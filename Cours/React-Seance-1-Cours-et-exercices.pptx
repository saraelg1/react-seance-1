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4" r:id="rId29"/>
    <p:sldId id="285" r:id="rId30"/>
    <p:sldId id="286" r:id="rId3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426" autoAdjust="0"/>
    <p:restoredTop sz="87582" autoAdjust="0"/>
  </p:normalViewPr>
  <p:slideViewPr>
    <p:cSldViewPr snapToGrid="0">
      <p:cViewPr varScale="1">
        <p:scale>
          <a:sx n="72" d="100"/>
          <a:sy n="72" d="100"/>
        </p:scale>
        <p:origin x="149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 EL-GUERYSY" userId="f137cb3346143788" providerId="LiveId" clId="{511B377B-F338-4169-87EE-BBEDEE5C3C6F}"/>
    <pc:docChg chg="undo custSel delSld modSld">
      <pc:chgData name="Sara EL-GUERYSY" userId="f137cb3346143788" providerId="LiveId" clId="{511B377B-F338-4169-87EE-BBEDEE5C3C6F}" dt="2026-10-19T06:45:02.597" v="369" actId="478"/>
      <pc:docMkLst>
        <pc:docMk/>
      </pc:docMkLst>
      <pc:sldChg chg="delSp modSp mod modNotesTx">
        <pc:chgData name="Sara EL-GUERYSY" userId="f137cb3346143788" providerId="LiveId" clId="{511B377B-F338-4169-87EE-BBEDEE5C3C6F}" dt="2026-10-17T06:42:08.027" v="294" actId="20577"/>
        <pc:sldMkLst>
          <pc:docMk/>
          <pc:sldMk cId="1729751074" sldId="256"/>
        </pc:sldMkLst>
      </pc:sldChg>
      <pc:sldChg chg="delSp mod modNotesTx">
        <pc:chgData name="Sara EL-GUERYSY" userId="f137cb3346143788" providerId="LiveId" clId="{511B377B-F338-4169-87EE-BBEDEE5C3C6F}" dt="2026-10-17T06:42:11.347" v="295" actId="20577"/>
        <pc:sldMkLst>
          <pc:docMk/>
          <pc:sldMk cId="959236315" sldId="257"/>
        </pc:sldMkLst>
      </pc:sldChg>
      <pc:sldChg chg="modSp mod modNotesTx">
        <pc:chgData name="Sara EL-GUERYSY" userId="f137cb3346143788" providerId="LiveId" clId="{511B377B-F338-4169-87EE-BBEDEE5C3C6F}" dt="2026-10-18T19:58:53.087" v="359" actId="20577"/>
        <pc:sldMkLst>
          <pc:docMk/>
          <pc:sldMk cId="1948044883" sldId="258"/>
        </pc:sldMkLst>
        <pc:spChg chg="mod">
          <ac:chgData name="Sara EL-GUERYSY" userId="f137cb3346143788" providerId="LiveId" clId="{511B377B-F338-4169-87EE-BBEDEE5C3C6F}" dt="2026-10-18T19:58:53.087" v="359" actId="20577"/>
          <ac:spMkLst>
            <pc:docMk/>
            <pc:sldMk cId="1948044883" sldId="258"/>
            <ac:spMk id="2" creationId="{C956BF79-225D-460B-8931-34C855223350}"/>
          </ac:spMkLst>
        </pc:spChg>
        <pc:spChg chg="mod">
          <ac:chgData name="Sara EL-GUERYSY" userId="f137cb3346143788" providerId="LiveId" clId="{511B377B-F338-4169-87EE-BBEDEE5C3C6F}" dt="2026-10-17T06:41:20.157" v="292"/>
          <ac:spMkLst>
            <pc:docMk/>
            <pc:sldMk cId="1948044883" sldId="258"/>
            <ac:spMk id="3" creationId="{18F539A7-1F5C-44DA-B514-A877787F60B8}"/>
          </ac:spMkLst>
        </pc:spChg>
        <pc:spChg chg="mod">
          <ac:chgData name="Sara EL-GUERYSY" userId="f137cb3346143788" providerId="LiveId" clId="{511B377B-F338-4169-87EE-BBEDEE5C3C6F}" dt="2026-10-18T19:58:49.083" v="348" actId="20577"/>
          <ac:spMkLst>
            <pc:docMk/>
            <pc:sldMk cId="1948044883" sldId="258"/>
            <ac:spMk id="7" creationId="{6A8DB972-A742-4DA6-9B5E-18415B840706}"/>
          </ac:spMkLst>
        </pc:spChg>
      </pc:sldChg>
      <pc:sldChg chg="modSp mod modNotesTx">
        <pc:chgData name="Sara EL-GUERYSY" userId="f137cb3346143788" providerId="LiveId" clId="{511B377B-F338-4169-87EE-BBEDEE5C3C6F}" dt="2026-10-18T19:59:01.705" v="364" actId="20577"/>
        <pc:sldMkLst>
          <pc:docMk/>
          <pc:sldMk cId="491997600" sldId="259"/>
        </pc:sldMkLst>
        <pc:spChg chg="mod">
          <ac:chgData name="Sara EL-GUERYSY" userId="f137cb3346143788" providerId="LiveId" clId="{511B377B-F338-4169-87EE-BBEDEE5C3C6F}" dt="2026-10-18T19:59:01.705" v="364" actId="20577"/>
          <ac:spMkLst>
            <pc:docMk/>
            <pc:sldMk cId="491997600" sldId="259"/>
            <ac:spMk id="7" creationId="{037A7DA6-71A4-4CB1-A25D-D4088DD9BB08}"/>
          </ac:spMkLst>
        </pc:spChg>
      </pc:sldChg>
      <pc:sldChg chg="modNotesTx">
        <pc:chgData name="Sara EL-GUERYSY" userId="f137cb3346143788" providerId="LiveId" clId="{511B377B-F338-4169-87EE-BBEDEE5C3C6F}" dt="2026-10-17T06:42:18.824" v="297" actId="20577"/>
        <pc:sldMkLst>
          <pc:docMk/>
          <pc:sldMk cId="1399179123" sldId="260"/>
        </pc:sldMkLst>
      </pc:sldChg>
      <pc:sldChg chg="modSp mod modNotesTx">
        <pc:chgData name="Sara EL-GUERYSY" userId="f137cb3346143788" providerId="LiveId" clId="{511B377B-F338-4169-87EE-BBEDEE5C3C6F}" dt="2026-10-18T20:00:33.088" v="366" actId="20577"/>
        <pc:sldMkLst>
          <pc:docMk/>
          <pc:sldMk cId="1909185151" sldId="261"/>
        </pc:sldMkLst>
        <pc:spChg chg="mod">
          <ac:chgData name="Sara EL-GUERYSY" userId="f137cb3346143788" providerId="LiveId" clId="{511B377B-F338-4169-87EE-BBEDEE5C3C6F}" dt="2026-10-18T20:00:33.088" v="366" actId="20577"/>
          <ac:spMkLst>
            <pc:docMk/>
            <pc:sldMk cId="1909185151" sldId="261"/>
            <ac:spMk id="6" creationId="{E3EAD31A-5329-4A86-8F03-0A123FBB610E}"/>
          </ac:spMkLst>
        </pc:spChg>
      </pc:sldChg>
      <pc:sldChg chg="modSp mod modNotesTx">
        <pc:chgData name="Sara EL-GUERYSY" userId="f137cb3346143788" providerId="LiveId" clId="{511B377B-F338-4169-87EE-BBEDEE5C3C6F}" dt="2026-10-17T06:42:26.677" v="300" actId="20577"/>
        <pc:sldMkLst>
          <pc:docMk/>
          <pc:sldMk cId="2083725500" sldId="262"/>
        </pc:sldMkLst>
        <pc:spChg chg="mod">
          <ac:chgData name="Sara EL-GUERYSY" userId="f137cb3346143788" providerId="LiveId" clId="{511B377B-F338-4169-87EE-BBEDEE5C3C6F}" dt="2026-10-17T06:22:36.689" v="15" actId="20577"/>
          <ac:spMkLst>
            <pc:docMk/>
            <pc:sldMk cId="2083725500" sldId="262"/>
            <ac:spMk id="9" creationId="{B2E1694D-5522-4327-AFCE-993C75BB7038}"/>
          </ac:spMkLst>
        </pc:spChg>
      </pc:sldChg>
      <pc:sldChg chg="modNotesTx">
        <pc:chgData name="Sara EL-GUERYSY" userId="f137cb3346143788" providerId="LiveId" clId="{511B377B-F338-4169-87EE-BBEDEE5C3C6F}" dt="2026-10-17T06:42:29.819" v="301" actId="20577"/>
        <pc:sldMkLst>
          <pc:docMk/>
          <pc:sldMk cId="205278979" sldId="263"/>
        </pc:sldMkLst>
      </pc:sldChg>
      <pc:sldChg chg="modSp mod modNotesTx">
        <pc:chgData name="Sara EL-GUERYSY" userId="f137cb3346143788" providerId="LiveId" clId="{511B377B-F338-4169-87EE-BBEDEE5C3C6F}" dt="2026-10-17T06:42:33.464" v="302" actId="20577"/>
        <pc:sldMkLst>
          <pc:docMk/>
          <pc:sldMk cId="1882181375" sldId="264"/>
        </pc:sldMkLst>
        <pc:spChg chg="mod">
          <ac:chgData name="Sara EL-GUERYSY" userId="f137cb3346143788" providerId="LiveId" clId="{511B377B-F338-4169-87EE-BBEDEE5C3C6F}" dt="2026-10-17T06:37:59.684" v="210" actId="20577"/>
          <ac:spMkLst>
            <pc:docMk/>
            <pc:sldMk cId="1882181375" sldId="264"/>
            <ac:spMk id="2" creationId="{7ACE23DA-D617-4378-BF09-522090E4611D}"/>
          </ac:spMkLst>
        </pc:spChg>
        <pc:spChg chg="mod">
          <ac:chgData name="Sara EL-GUERYSY" userId="f137cb3346143788" providerId="LiveId" clId="{511B377B-F338-4169-87EE-BBEDEE5C3C6F}" dt="2026-10-17T06:38:04.294" v="215" actId="20577"/>
          <ac:spMkLst>
            <pc:docMk/>
            <pc:sldMk cId="1882181375" sldId="264"/>
            <ac:spMk id="3" creationId="{D9FCCC17-03B4-438E-9A33-BED16551C8BC}"/>
          </ac:spMkLst>
        </pc:spChg>
      </pc:sldChg>
      <pc:sldChg chg="modNotesTx">
        <pc:chgData name="Sara EL-GUERYSY" userId="f137cb3346143788" providerId="LiveId" clId="{511B377B-F338-4169-87EE-BBEDEE5C3C6F}" dt="2026-10-17T06:42:36.356" v="303" actId="20577"/>
        <pc:sldMkLst>
          <pc:docMk/>
          <pc:sldMk cId="146467305" sldId="265"/>
        </pc:sldMkLst>
      </pc:sldChg>
      <pc:sldChg chg="delSp modSp mod modNotesTx">
        <pc:chgData name="Sara EL-GUERYSY" userId="f137cb3346143788" providerId="LiveId" clId="{511B377B-F338-4169-87EE-BBEDEE5C3C6F}" dt="2026-10-19T06:45:02.597" v="369" actId="478"/>
        <pc:sldMkLst>
          <pc:docMk/>
          <pc:sldMk cId="576381109" sldId="266"/>
        </pc:sldMkLst>
        <pc:spChg chg="mod">
          <ac:chgData name="Sara EL-GUERYSY" userId="f137cb3346143788" providerId="LiveId" clId="{511B377B-F338-4169-87EE-BBEDEE5C3C6F}" dt="2026-10-17T06:38:23.673" v="220" actId="20577"/>
          <ac:spMkLst>
            <pc:docMk/>
            <pc:sldMk cId="576381109" sldId="266"/>
            <ac:spMk id="3" creationId="{505D4FAB-25B9-4FBA-B658-4CEC32B266A3}"/>
          </ac:spMkLst>
        </pc:spChg>
        <pc:spChg chg="del">
          <ac:chgData name="Sara EL-GUERYSY" userId="f137cb3346143788" providerId="LiveId" clId="{511B377B-F338-4169-87EE-BBEDEE5C3C6F}" dt="2026-10-19T06:45:02.597" v="369" actId="478"/>
          <ac:spMkLst>
            <pc:docMk/>
            <pc:sldMk cId="576381109" sldId="266"/>
            <ac:spMk id="5" creationId="{A301D62F-531E-4F42-8105-D513F3F1F87D}"/>
          </ac:spMkLst>
        </pc:spChg>
        <pc:spChg chg="mod">
          <ac:chgData name="Sara EL-GUERYSY" userId="f137cb3346143788" providerId="LiveId" clId="{511B377B-F338-4169-87EE-BBEDEE5C3C6F}" dt="2026-10-17T06:32:53.348" v="155" actId="20577"/>
          <ac:spMkLst>
            <pc:docMk/>
            <pc:sldMk cId="576381109" sldId="266"/>
            <ac:spMk id="7" creationId="{7E832252-5E40-46DB-B98A-1E050DB5C82A}"/>
          </ac:spMkLst>
        </pc:spChg>
      </pc:sldChg>
      <pc:sldChg chg="modSp mod modNotesTx">
        <pc:chgData name="Sara EL-GUERYSY" userId="f137cb3346143788" providerId="LiveId" clId="{511B377B-F338-4169-87EE-BBEDEE5C3C6F}" dt="2026-10-17T06:42:42.291" v="305" actId="20577"/>
        <pc:sldMkLst>
          <pc:docMk/>
          <pc:sldMk cId="1285416140" sldId="267"/>
        </pc:sldMkLst>
        <pc:spChg chg="mod">
          <ac:chgData name="Sara EL-GUERYSY" userId="f137cb3346143788" providerId="LiveId" clId="{511B377B-F338-4169-87EE-BBEDEE5C3C6F}" dt="2026-10-17T06:38:38.024" v="226"/>
          <ac:spMkLst>
            <pc:docMk/>
            <pc:sldMk cId="1285416140" sldId="267"/>
            <ac:spMk id="3" creationId="{AF9607EA-4CFE-44C0-BE59-88596095FC58}"/>
          </ac:spMkLst>
        </pc:spChg>
      </pc:sldChg>
      <pc:sldChg chg="modSp mod modNotesTx">
        <pc:chgData name="Sara EL-GUERYSY" userId="f137cb3346143788" providerId="LiveId" clId="{511B377B-F338-4169-87EE-BBEDEE5C3C6F}" dt="2026-10-17T06:42:45.113" v="306" actId="20577"/>
        <pc:sldMkLst>
          <pc:docMk/>
          <pc:sldMk cId="1677340441" sldId="268"/>
        </pc:sldMkLst>
        <pc:spChg chg="mod">
          <ac:chgData name="Sara EL-GUERYSY" userId="f137cb3346143788" providerId="LiveId" clId="{511B377B-F338-4169-87EE-BBEDEE5C3C6F}" dt="2026-10-17T06:38:46.473" v="230"/>
          <ac:spMkLst>
            <pc:docMk/>
            <pc:sldMk cId="1677340441" sldId="268"/>
            <ac:spMk id="3" creationId="{0B35E57F-F419-44CB-9E49-C0693A5FF2A2}"/>
          </ac:spMkLst>
        </pc:spChg>
      </pc:sldChg>
      <pc:sldChg chg="modNotesTx">
        <pc:chgData name="Sara EL-GUERYSY" userId="f137cb3346143788" providerId="LiveId" clId="{511B377B-F338-4169-87EE-BBEDEE5C3C6F}" dt="2026-10-17T06:42:48.321" v="307" actId="20577"/>
        <pc:sldMkLst>
          <pc:docMk/>
          <pc:sldMk cId="799023617" sldId="269"/>
        </pc:sldMkLst>
      </pc:sldChg>
      <pc:sldChg chg="modSp mod modNotesTx">
        <pc:chgData name="Sara EL-GUERYSY" userId="f137cb3346143788" providerId="LiveId" clId="{511B377B-F338-4169-87EE-BBEDEE5C3C6F}" dt="2026-10-17T06:42:51.188" v="308" actId="20577"/>
        <pc:sldMkLst>
          <pc:docMk/>
          <pc:sldMk cId="1679000143" sldId="270"/>
        </pc:sldMkLst>
        <pc:spChg chg="mod">
          <ac:chgData name="Sara EL-GUERYSY" userId="f137cb3346143788" providerId="LiveId" clId="{511B377B-F338-4169-87EE-BBEDEE5C3C6F}" dt="2026-10-17T06:27:41.945" v="98" actId="20577"/>
          <ac:spMkLst>
            <pc:docMk/>
            <pc:sldMk cId="1679000143" sldId="270"/>
            <ac:spMk id="3" creationId="{3F0B7E2A-B7C2-4102-98F3-1F5246E39221}"/>
          </ac:spMkLst>
        </pc:spChg>
      </pc:sldChg>
      <pc:sldChg chg="modSp mod modNotesTx">
        <pc:chgData name="Sara EL-GUERYSY" userId="f137cb3346143788" providerId="LiveId" clId="{511B377B-F338-4169-87EE-BBEDEE5C3C6F}" dt="2026-10-17T06:42:54.470" v="309" actId="20577"/>
        <pc:sldMkLst>
          <pc:docMk/>
          <pc:sldMk cId="2012554448" sldId="271"/>
        </pc:sldMkLst>
        <pc:spChg chg="mod">
          <ac:chgData name="Sara EL-GUERYSY" userId="f137cb3346143788" providerId="LiveId" clId="{511B377B-F338-4169-87EE-BBEDEE5C3C6F}" dt="2026-10-17T06:32:39.988" v="149" actId="20577"/>
          <ac:spMkLst>
            <pc:docMk/>
            <pc:sldMk cId="2012554448" sldId="271"/>
            <ac:spMk id="9" creationId="{3196E06E-4663-4317-83AF-E6A5B676ED92}"/>
          </ac:spMkLst>
        </pc:spChg>
      </pc:sldChg>
      <pc:sldChg chg="modNotesTx">
        <pc:chgData name="Sara EL-GUERYSY" userId="f137cb3346143788" providerId="LiveId" clId="{511B377B-F338-4169-87EE-BBEDEE5C3C6F}" dt="2026-10-17T06:42:59.131" v="311" actId="20577"/>
        <pc:sldMkLst>
          <pc:docMk/>
          <pc:sldMk cId="1467566785" sldId="272"/>
        </pc:sldMkLst>
      </pc:sldChg>
      <pc:sldChg chg="modNotesTx">
        <pc:chgData name="Sara EL-GUERYSY" userId="f137cb3346143788" providerId="LiveId" clId="{511B377B-F338-4169-87EE-BBEDEE5C3C6F}" dt="2026-10-17T06:43:00.724" v="312" actId="20577"/>
        <pc:sldMkLst>
          <pc:docMk/>
          <pc:sldMk cId="644814605" sldId="273"/>
        </pc:sldMkLst>
      </pc:sldChg>
      <pc:sldChg chg="modNotesTx">
        <pc:chgData name="Sara EL-GUERYSY" userId="f137cb3346143788" providerId="LiveId" clId="{511B377B-F338-4169-87EE-BBEDEE5C3C6F}" dt="2026-10-17T06:43:04.182" v="313" actId="20577"/>
        <pc:sldMkLst>
          <pc:docMk/>
          <pc:sldMk cId="1360775487" sldId="274"/>
        </pc:sldMkLst>
      </pc:sldChg>
      <pc:sldChg chg="modSp mod modNotesTx">
        <pc:chgData name="Sara EL-GUERYSY" userId="f137cb3346143788" providerId="LiveId" clId="{511B377B-F338-4169-87EE-BBEDEE5C3C6F}" dt="2026-10-17T06:43:06.515" v="314" actId="20577"/>
        <pc:sldMkLst>
          <pc:docMk/>
          <pc:sldMk cId="1334911345" sldId="275"/>
        </pc:sldMkLst>
        <pc:spChg chg="mod">
          <ac:chgData name="Sara EL-GUERYSY" userId="f137cb3346143788" providerId="LiveId" clId="{511B377B-F338-4169-87EE-BBEDEE5C3C6F}" dt="2026-10-17T06:39:14.896" v="233"/>
          <ac:spMkLst>
            <pc:docMk/>
            <pc:sldMk cId="1334911345" sldId="275"/>
            <ac:spMk id="3" creationId="{2A1F8C48-E1F4-4B0C-9512-2E91DB2312F6}"/>
          </ac:spMkLst>
        </pc:spChg>
        <pc:spChg chg="mod">
          <ac:chgData name="Sara EL-GUERYSY" userId="f137cb3346143788" providerId="LiveId" clId="{511B377B-F338-4169-87EE-BBEDEE5C3C6F}" dt="2026-10-17T06:39:34.613" v="250" actId="20577"/>
          <ac:spMkLst>
            <pc:docMk/>
            <pc:sldMk cId="1334911345" sldId="275"/>
            <ac:spMk id="4" creationId="{44A86B5E-8871-4233-B1A7-D092BC3C8C18}"/>
          </ac:spMkLst>
        </pc:spChg>
      </pc:sldChg>
      <pc:sldChg chg="delSp modSp mod modNotesTx">
        <pc:chgData name="Sara EL-GUERYSY" userId="f137cb3346143788" providerId="LiveId" clId="{511B377B-F338-4169-87EE-BBEDEE5C3C6F}" dt="2026-10-17T06:43:09.004" v="315" actId="20577"/>
        <pc:sldMkLst>
          <pc:docMk/>
          <pc:sldMk cId="479752707" sldId="276"/>
        </pc:sldMkLst>
        <pc:spChg chg="mod">
          <ac:chgData name="Sara EL-GUERYSY" userId="f137cb3346143788" providerId="LiveId" clId="{511B377B-F338-4169-87EE-BBEDEE5C3C6F}" dt="2026-10-17T06:39:46.697" v="260" actId="20577"/>
          <ac:spMkLst>
            <pc:docMk/>
            <pc:sldMk cId="479752707" sldId="276"/>
            <ac:spMk id="3" creationId="{D3140C21-93F7-49FE-8882-E2768F1AAFC0}"/>
          </ac:spMkLst>
        </pc:spChg>
        <pc:spChg chg="mod">
          <ac:chgData name="Sara EL-GUERYSY" userId="f137cb3346143788" providerId="LiveId" clId="{511B377B-F338-4169-87EE-BBEDEE5C3C6F}" dt="2026-10-17T06:32:19.496" v="137" actId="20577"/>
          <ac:spMkLst>
            <pc:docMk/>
            <pc:sldMk cId="479752707" sldId="276"/>
            <ac:spMk id="7" creationId="{88BDA890-69ED-4FD1-A608-F4F7AADDD43A}"/>
          </ac:spMkLst>
        </pc:spChg>
      </pc:sldChg>
      <pc:sldChg chg="modSp mod modNotesTx">
        <pc:chgData name="Sara EL-GUERYSY" userId="f137cb3346143788" providerId="LiveId" clId="{511B377B-F338-4169-87EE-BBEDEE5C3C6F}" dt="2026-10-17T06:43:12.069" v="316" actId="20577"/>
        <pc:sldMkLst>
          <pc:docMk/>
          <pc:sldMk cId="1047091418" sldId="277"/>
        </pc:sldMkLst>
        <pc:spChg chg="mod">
          <ac:chgData name="Sara EL-GUERYSY" userId="f137cb3346143788" providerId="LiveId" clId="{511B377B-F338-4169-87EE-BBEDEE5C3C6F}" dt="2026-10-17T06:39:55.309" v="270" actId="20577"/>
          <ac:spMkLst>
            <pc:docMk/>
            <pc:sldMk cId="1047091418" sldId="277"/>
            <ac:spMk id="3" creationId="{E6910CAD-A05F-4955-9F32-33209B497F16}"/>
          </ac:spMkLst>
        </pc:spChg>
      </pc:sldChg>
      <pc:sldChg chg="modSp mod modNotesTx">
        <pc:chgData name="Sara EL-GUERYSY" userId="f137cb3346143788" providerId="LiveId" clId="{511B377B-F338-4169-87EE-BBEDEE5C3C6F}" dt="2026-10-17T06:43:15.828" v="317" actId="20577"/>
        <pc:sldMkLst>
          <pc:docMk/>
          <pc:sldMk cId="1612320133" sldId="278"/>
        </pc:sldMkLst>
        <pc:spChg chg="mod">
          <ac:chgData name="Sara EL-GUERYSY" userId="f137cb3346143788" providerId="LiveId" clId="{511B377B-F338-4169-87EE-BBEDEE5C3C6F}" dt="2026-10-17T06:40:02.514" v="275" actId="20577"/>
          <ac:spMkLst>
            <pc:docMk/>
            <pc:sldMk cId="1612320133" sldId="278"/>
            <ac:spMk id="3" creationId="{CECDAC4F-5F90-41F0-B523-77C4478BA6E8}"/>
          </ac:spMkLst>
        </pc:spChg>
      </pc:sldChg>
      <pc:sldChg chg="delSp modSp mod modNotesTx">
        <pc:chgData name="Sara EL-GUERYSY" userId="f137cb3346143788" providerId="LiveId" clId="{511B377B-F338-4169-87EE-BBEDEE5C3C6F}" dt="2026-10-17T06:43:18.847" v="318" actId="20577"/>
        <pc:sldMkLst>
          <pc:docMk/>
          <pc:sldMk cId="1821036645" sldId="279"/>
        </pc:sldMkLst>
        <pc:spChg chg="mod">
          <ac:chgData name="Sara EL-GUERYSY" userId="f137cb3346143788" providerId="LiveId" clId="{511B377B-F338-4169-87EE-BBEDEE5C3C6F}" dt="2026-10-17T06:33:41.602" v="170" actId="20577"/>
          <ac:spMkLst>
            <pc:docMk/>
            <pc:sldMk cId="1821036645" sldId="279"/>
            <ac:spMk id="8" creationId="{BA4FF7F8-7C12-4C6B-BB87-B2709BF70DE1}"/>
          </ac:spMkLst>
        </pc:spChg>
      </pc:sldChg>
      <pc:sldChg chg="modSp mod modNotesTx">
        <pc:chgData name="Sara EL-GUERYSY" userId="f137cb3346143788" providerId="LiveId" clId="{511B377B-F338-4169-87EE-BBEDEE5C3C6F}" dt="2026-10-19T06:44:32.062" v="368" actId="1036"/>
        <pc:sldMkLst>
          <pc:docMk/>
          <pc:sldMk cId="629494097" sldId="280"/>
        </pc:sldMkLst>
        <pc:spChg chg="mod">
          <ac:chgData name="Sara EL-GUERYSY" userId="f137cb3346143788" providerId="LiveId" clId="{511B377B-F338-4169-87EE-BBEDEE5C3C6F}" dt="2026-10-19T06:44:32.062" v="368" actId="1036"/>
          <ac:spMkLst>
            <pc:docMk/>
            <pc:sldMk cId="629494097" sldId="280"/>
            <ac:spMk id="5" creationId="{589EB77E-3EB8-4AED-8E2B-5BF868C20EB1}"/>
          </ac:spMkLst>
        </pc:spChg>
        <pc:spChg chg="mod">
          <ac:chgData name="Sara EL-GUERYSY" userId="f137cb3346143788" providerId="LiveId" clId="{511B377B-F338-4169-87EE-BBEDEE5C3C6F}" dt="2026-10-17T06:33:58.381" v="183" actId="20577"/>
          <ac:spMkLst>
            <pc:docMk/>
            <pc:sldMk cId="629494097" sldId="280"/>
            <ac:spMk id="11" creationId="{999157FD-DCAD-4CF7-AA87-D9E8A5CF874D}"/>
          </ac:spMkLst>
        </pc:spChg>
      </pc:sldChg>
      <pc:sldChg chg="modNotesTx">
        <pc:chgData name="Sara EL-GUERYSY" userId="f137cb3346143788" providerId="LiveId" clId="{511B377B-F338-4169-87EE-BBEDEE5C3C6F}" dt="2026-10-17T06:43:23.899" v="320" actId="20577"/>
        <pc:sldMkLst>
          <pc:docMk/>
          <pc:sldMk cId="1357775155" sldId="281"/>
        </pc:sldMkLst>
      </pc:sldChg>
      <pc:sldChg chg="modNotesTx">
        <pc:chgData name="Sara EL-GUERYSY" userId="f137cb3346143788" providerId="LiveId" clId="{511B377B-F338-4169-87EE-BBEDEE5C3C6F}" dt="2026-10-17T06:43:26.358" v="321" actId="20577"/>
        <pc:sldMkLst>
          <pc:docMk/>
          <pc:sldMk cId="1061647507" sldId="282"/>
        </pc:sldMkLst>
      </pc:sldChg>
      <pc:sldChg chg="del modNotesTx">
        <pc:chgData name="Sara EL-GUERYSY" userId="f137cb3346143788" providerId="LiveId" clId="{511B377B-F338-4169-87EE-BBEDEE5C3C6F}" dt="2026-10-18T19:57:00.902" v="341" actId="47"/>
        <pc:sldMkLst>
          <pc:docMk/>
          <pc:sldMk cId="1788922121" sldId="283"/>
        </pc:sldMkLst>
      </pc:sldChg>
      <pc:sldChg chg="modSp mod modNotesTx">
        <pc:chgData name="Sara EL-GUERYSY" userId="f137cb3346143788" providerId="LiveId" clId="{511B377B-F338-4169-87EE-BBEDEE5C3C6F}" dt="2026-10-18T19:56:01.419" v="339" actId="20577"/>
        <pc:sldMkLst>
          <pc:docMk/>
          <pc:sldMk cId="178620094" sldId="284"/>
        </pc:sldMkLst>
        <pc:spChg chg="mod">
          <ac:chgData name="Sara EL-GUERYSY" userId="f137cb3346143788" providerId="LiveId" clId="{511B377B-F338-4169-87EE-BBEDEE5C3C6F}" dt="2026-10-18T19:56:01.419" v="339" actId="20577"/>
          <ac:spMkLst>
            <pc:docMk/>
            <pc:sldMk cId="178620094" sldId="284"/>
            <ac:spMk id="10" creationId="{241C378D-62FC-4932-92A8-BB98A98BF1B1}"/>
          </ac:spMkLst>
        </pc:spChg>
      </pc:sldChg>
      <pc:sldChg chg="modNotesTx">
        <pc:chgData name="Sara EL-GUERYSY" userId="f137cb3346143788" providerId="LiveId" clId="{511B377B-F338-4169-87EE-BBEDEE5C3C6F}" dt="2026-10-17T06:43:35.358" v="324" actId="20577"/>
        <pc:sldMkLst>
          <pc:docMk/>
          <pc:sldMk cId="506870012" sldId="285"/>
        </pc:sldMkLst>
      </pc:sldChg>
      <pc:sldChg chg="modNotesTx">
        <pc:chgData name="Sara EL-GUERYSY" userId="f137cb3346143788" providerId="LiveId" clId="{511B377B-F338-4169-87EE-BBEDEE5C3C6F}" dt="2026-10-17T06:43:37.669" v="325" actId="20577"/>
        <pc:sldMkLst>
          <pc:docMk/>
          <pc:sldMk cId="1259218622" sldId="286"/>
        </pc:sldMkLst>
      </pc:sldChg>
      <pc:sldChg chg="del modNotesTx">
        <pc:chgData name="Sara EL-GUERYSY" userId="f137cb3346143788" providerId="LiveId" clId="{511B377B-F338-4169-87EE-BBEDEE5C3C6F}" dt="2026-10-18T19:56:54.452" v="340" actId="47"/>
        <pc:sldMkLst>
          <pc:docMk/>
          <pc:sldMk cId="355841663" sldId="28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SÉANCE 1 — 00:51–00:53 — 2 min</a:t>
            </a:r>
          </a:p>
          <a:p>
            <a:endParaRPr lang="fr-FR"/>
          </a:p>
          <a:p>
            <a:r>
              <a:rPr lang="fr-FR"/>
              <a:t>Afficher seulement après la recherche. Demander quel élément serait le parent si main devenait div. Ne pas lancer de discussion sur l’état ou les props.</a:t>
            </a:r>
          </a:p>
          <a:p>
            <a:endParaRPr lang="fr-FR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2E2E271-282D-4825-A0DC-47B8123D1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71E5583-0D94-4ACA-A6EB-C108514A4A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EF293731-3389-4855-9AA0-12E265B84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92DC5E4-3F0C-4B56-B6B7-9F3117C2E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19351492-F0D0-4D02-94BA-590423CA2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ACE7354-963A-4086-86A5-7CB428766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779CA6BC-707D-4F7A-B63C-1C78FFA34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12E672D2-E404-4129-BC3B-0A6D4495E27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C135248-8D71-4A0A-9F77-95CAEAB98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DA79400-1466-4289-9FDF-BEA8564C9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C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F7901859-F549-42AE-B444-41A86F14B330}"/>
              </a:ext>
            </a:extLst>
          </p:cNvPr>
          <p:cNvSpPr>
            <a:spLocks noGrp="1"/>
          </p:cNvSpPr>
          <p:nvPr/>
        </p:nvSpPr>
        <p:spPr>
          <a:xfrm>
            <a:off x="723900" y="1752600"/>
            <a:ext cx="10477500" cy="2190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Premiers pas</a:t>
            </a:r>
          </a:p>
          <a:p>
            <a:pPr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avec React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8FD55349-747C-4CA1-9D97-AAD5D62D6A6D}"/>
              </a:ext>
            </a:extLst>
          </p:cNvPr>
          <p:cNvSpPr>
            <a:spLocks noGrp="1"/>
          </p:cNvSpPr>
          <p:nvPr/>
        </p:nvSpPr>
        <p:spPr>
          <a:xfrm>
            <a:off x="762000" y="4438650"/>
            <a:ext cx="10096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Comprendre un composant et afficher des données en JSX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DE0C4F42-2D38-45BF-874E-286876035A9E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EFE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29751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">
            <a:extLst>
              <a:ext uri="{FF2B5EF4-FFF2-40B4-BE49-F238E27FC236}">
                <a16:creationId xmlns:a16="http://schemas.microsoft.com/office/drawing/2014/main" id="{1DFE6D0C-D171-4C5C-9C1B-3F0DB408CC14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382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COURS · SÉANCE 1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6AEE956A-27D8-4F34-BF89-72E3DFA5B7F1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Le résultat de cette séance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89E375CA-0CC7-47CC-B2EF-C0501FBD9637}"/>
              </a:ext>
            </a:extLst>
          </p:cNvPr>
          <p:cNvSpPr>
            <a:spLocks noGrp="1"/>
          </p:cNvSpPr>
          <p:nvPr/>
        </p:nvSpPr>
        <p:spPr>
          <a:xfrm>
            <a:off x="723900" y="2000250"/>
            <a:ext cx="72390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Expliquer le rôle de React dans une interface.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FF726C95-F254-4457-AE5C-6C33CC8D2C46}"/>
              </a:ext>
            </a:extLst>
          </p:cNvPr>
          <p:cNvSpPr>
            <a:spLocks noGrp="1"/>
          </p:cNvSpPr>
          <p:nvPr/>
        </p:nvSpPr>
        <p:spPr>
          <a:xfrm>
            <a:off x="723900" y="2971800"/>
            <a:ext cx="72390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Lire un objet et appeler une fonction simple.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EA896D3F-73EA-4F05-A65F-DD98505149D8}"/>
              </a:ext>
            </a:extLst>
          </p:cNvPr>
          <p:cNvSpPr>
            <a:spLocks noGrp="1"/>
          </p:cNvSpPr>
          <p:nvPr/>
        </p:nvSpPr>
        <p:spPr>
          <a:xfrm>
            <a:off x="723900" y="3943350"/>
            <a:ext cx="72390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Écrire un composant qui retourne du JSX.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58733142-3AF3-4C8B-AE7A-8C5E960C475A}"/>
              </a:ext>
            </a:extLst>
          </p:cNvPr>
          <p:cNvSpPr>
            <a:spLocks noGrp="1"/>
          </p:cNvSpPr>
          <p:nvPr/>
        </p:nvSpPr>
        <p:spPr>
          <a:xfrm>
            <a:off x="723900" y="4914900"/>
            <a:ext cx="72390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Afficher une donnée et un statut conditionnel.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95BEC2B8-B68A-4668-8E43-2A338E39B2AF}"/>
              </a:ext>
            </a:extLst>
          </p:cNvPr>
          <p:cNvSpPr>
            <a:spLocks noGrp="1"/>
          </p:cNvSpPr>
          <p:nvPr/>
        </p:nvSpPr>
        <p:spPr>
          <a:xfrm>
            <a:off x="723900" y="5943600"/>
            <a:ext cx="106680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10 min diagnostic · 43 min découverte et exercices · 5 min pause · 62 min JSX, TP et bilan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A7F2AF53-72A0-449A-931D-EE62C3BA0CD8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59236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">
            <a:extLst>
              <a:ext uri="{FF2B5EF4-FFF2-40B4-BE49-F238E27FC236}">
                <a16:creationId xmlns:a16="http://schemas.microsoft.com/office/drawing/2014/main" id="{6A8DB972-A742-4DA6-9B5E-18415B840706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382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 dirty="0">
                <a:solidFill>
                  <a:srgbClr val="087F75"/>
                </a:solidFill>
                <a:latin typeface="Arial"/>
                <a:ea typeface="Arial"/>
                <a:cs typeface="Arial"/>
              </a:rPr>
              <a:t>EXERCICE 0 · 5 MIN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C956BF79-225D-460B-8931-34C855223350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225" b="1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Diagnostic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18F539A7-1F5C-44DA-B514-A877787F60B8}"/>
              </a:ext>
            </a:extLst>
          </p:cNvPr>
          <p:cNvSpPr>
            <a:spLocks noGrp="1"/>
          </p:cNvSpPr>
          <p:nvPr/>
        </p:nvSpPr>
        <p:spPr>
          <a:xfrm>
            <a:off x="723900" y="1943100"/>
            <a:ext cx="10668000" cy="2038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const </a:t>
            </a:r>
            <a:r>
              <a:rPr lang="fr-FR"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local</a:t>
            </a: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= { nom: "Atlas", </a:t>
            </a:r>
            <a:r>
              <a:rPr sz="2025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prixHeure</a:t>
            </a: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: 150 };</a:t>
            </a: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const </a:t>
            </a:r>
            <a:r>
              <a:rPr sz="2025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duree</a:t>
            </a: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= 2;</a:t>
            </a:r>
          </a:p>
          <a:p>
            <a:endParaRPr sz="2025" b="0" dirty="0">
              <a:solidFill>
                <a:srgbClr val="087F75"/>
              </a:solidFill>
              <a:latin typeface="Consolas"/>
              <a:ea typeface="Consolas"/>
              <a:cs typeface="Consolas"/>
            </a:endParaRP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A. </a:t>
            </a:r>
            <a:r>
              <a:rPr lang="fr-FR" sz="2025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local</a:t>
            </a: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.nom</a:t>
            </a: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B. </a:t>
            </a:r>
            <a:r>
              <a:rPr lang="fr-FR" sz="2025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local</a:t>
            </a: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2025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prixHeure</a:t>
            </a: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* </a:t>
            </a:r>
            <a:r>
              <a:rPr sz="2025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duree</a:t>
            </a:r>
            <a:endParaRPr sz="2025" b="0" dirty="0">
              <a:solidFill>
                <a:srgbClr val="087F75"/>
              </a:solidFill>
              <a:latin typeface="Consolas"/>
              <a:ea typeface="Consolas"/>
              <a:cs typeface="Consolas"/>
            </a:endParaRP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C. 3 === "3"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B7AF16A4-ADB4-4D4D-AAE3-46E7BDEE5D2A}"/>
              </a:ext>
            </a:extLst>
          </p:cNvPr>
          <p:cNvSpPr>
            <a:spLocks noGrp="1"/>
          </p:cNvSpPr>
          <p:nvPr/>
        </p:nvSpPr>
        <p:spPr>
          <a:xfrm>
            <a:off x="723900" y="4095750"/>
            <a:ext cx="105727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Écrire le résultat de A, B et C.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6DA8EC7A-F3D6-4FA5-9072-6BAA7F19C621}"/>
              </a:ext>
            </a:extLst>
          </p:cNvPr>
          <p:cNvSpPr>
            <a:spLocks noGrp="1"/>
          </p:cNvSpPr>
          <p:nvPr/>
        </p:nvSpPr>
        <p:spPr>
          <a:xfrm>
            <a:off x="723900" y="4714875"/>
            <a:ext cx="105727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D. Que fait le mot-clé return dans une fonction ?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02991670-4A45-47DD-B0DE-DE599076AA2E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48044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">
            <a:extLst>
              <a:ext uri="{FF2B5EF4-FFF2-40B4-BE49-F238E27FC236}">
                <a16:creationId xmlns:a16="http://schemas.microsoft.com/office/drawing/2014/main" id="{037A7DA6-71A4-4CB1-A25D-D4088DD9BB08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382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 dirty="0">
                <a:solidFill>
                  <a:srgbClr val="087F75"/>
                </a:solidFill>
                <a:latin typeface="Arial"/>
                <a:ea typeface="Arial"/>
                <a:cs typeface="Arial"/>
              </a:rPr>
              <a:t>CORRIGÉ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249623F3-8645-4099-9EBF-C01097171F13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Diagnostic : les réponses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598AED3B-C084-4A20-8189-B338238949F0}"/>
              </a:ext>
            </a:extLst>
          </p:cNvPr>
          <p:cNvSpPr>
            <a:spLocks noGrp="1"/>
          </p:cNvSpPr>
          <p:nvPr/>
        </p:nvSpPr>
        <p:spPr>
          <a:xfrm>
            <a:off x="723900" y="1943100"/>
            <a:ext cx="10668000" cy="1066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A. "Atlas"</a:t>
            </a: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B. 300</a:t>
            </a: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C. false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B23065D3-E45B-4753-9F5E-B29D6A278A2D}"/>
              </a:ext>
            </a:extLst>
          </p:cNvPr>
          <p:cNvSpPr>
            <a:spLocks noGrp="1"/>
          </p:cNvSpPr>
          <p:nvPr/>
        </p:nvSpPr>
        <p:spPr>
          <a:xfrm>
            <a:off x="723900" y="3124200"/>
            <a:ext cx="105727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=== compare la valeur et le type.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194F132C-4336-4593-9C30-9D676856EF93}"/>
              </a:ext>
            </a:extLst>
          </p:cNvPr>
          <p:cNvSpPr>
            <a:spLocks noGrp="1"/>
          </p:cNvSpPr>
          <p:nvPr/>
        </p:nvSpPr>
        <p:spPr>
          <a:xfrm>
            <a:off x="723900" y="3743325"/>
            <a:ext cx="105727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return termine l’exécution de la fonction et renvoie une valeur à l’appelant.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BD34F8D9-633A-4636-8C0D-B7FA1EC654EA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91997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">
            <a:extLst>
              <a:ext uri="{FF2B5EF4-FFF2-40B4-BE49-F238E27FC236}">
                <a16:creationId xmlns:a16="http://schemas.microsoft.com/office/drawing/2014/main" id="{8891758A-AD57-4F89-9B34-5FD7E93FB4D3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382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COURS · SÉANCE 1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5A6EDE65-C3E6-4C40-9379-7DA195901BD8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Front-end et back-end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4544DD65-F25E-45C6-A4B3-0FB42AE3B058}"/>
              </a:ext>
            </a:extLst>
          </p:cNvPr>
          <p:cNvSpPr>
            <a:spLocks noGrp="1"/>
          </p:cNvSpPr>
          <p:nvPr/>
        </p:nvSpPr>
        <p:spPr>
          <a:xfrm>
            <a:off x="723900" y="2000250"/>
            <a:ext cx="72390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Le front-end affiche les écrans et gère les interactions dans le navigateur.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55A305EE-FBF8-426F-9A6B-A411978E24D3}"/>
              </a:ext>
            </a:extLst>
          </p:cNvPr>
          <p:cNvSpPr>
            <a:spLocks noGrp="1"/>
          </p:cNvSpPr>
          <p:nvPr/>
        </p:nvSpPr>
        <p:spPr>
          <a:xfrm>
            <a:off x="723900" y="2971800"/>
            <a:ext cx="72390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Le back-end traite les requêtes et applique les règles côté serveur.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7CCDB457-92A1-4FF9-AB5B-0B0673E6BFC7}"/>
              </a:ext>
            </a:extLst>
          </p:cNvPr>
          <p:cNvSpPr>
            <a:spLocks noGrp="1"/>
          </p:cNvSpPr>
          <p:nvPr/>
        </p:nvSpPr>
        <p:spPr>
          <a:xfrm>
            <a:off x="723900" y="3943350"/>
            <a:ext cx="72390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La base de données conserve les informations de façon durable.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5ECCE1C8-0EFC-4CAE-918C-44A1B09FDA33}"/>
              </a:ext>
            </a:extLst>
          </p:cNvPr>
          <p:cNvSpPr>
            <a:spLocks noGrp="1"/>
          </p:cNvSpPr>
          <p:nvPr/>
        </p:nvSpPr>
        <p:spPr>
          <a:xfrm>
            <a:off x="8477250" y="2000250"/>
            <a:ext cx="3000375" cy="3905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950" b="0" dirty="0" err="1">
                <a:solidFill>
                  <a:srgbClr val="087F75"/>
                </a:solidFill>
                <a:latin typeface="Arial"/>
                <a:ea typeface="Arial"/>
                <a:cs typeface="Arial"/>
              </a:rPr>
              <a:t>Réservation</a:t>
            </a:r>
            <a:r>
              <a:rPr sz="1950" b="0" dirty="0">
                <a:solidFill>
                  <a:srgbClr val="087F75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087F75"/>
                </a:solidFill>
                <a:latin typeface="Arial"/>
                <a:ea typeface="Arial"/>
                <a:cs typeface="Arial"/>
              </a:rPr>
              <a:t>d’une</a:t>
            </a:r>
            <a:r>
              <a:rPr sz="1950" b="0" dirty="0">
                <a:solidFill>
                  <a:srgbClr val="087F75"/>
                </a:solidFill>
                <a:latin typeface="Arial"/>
                <a:ea typeface="Arial"/>
                <a:cs typeface="Arial"/>
              </a:rPr>
              <a:t> salle</a:t>
            </a:r>
          </a:p>
          <a:p>
            <a:endParaRPr sz="1950" b="0" dirty="0">
              <a:solidFill>
                <a:srgbClr val="087F75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950" b="0" dirty="0">
                <a:solidFill>
                  <a:srgbClr val="087F75"/>
                </a:solidFill>
                <a:latin typeface="Arial"/>
                <a:ea typeface="Arial"/>
                <a:cs typeface="Arial"/>
              </a:rPr>
              <a:t>Front-end : </a:t>
            </a:r>
            <a:r>
              <a:rPr sz="1950" b="0" dirty="0" err="1">
                <a:solidFill>
                  <a:srgbClr val="087F75"/>
                </a:solidFill>
                <a:latin typeface="Arial"/>
                <a:ea typeface="Arial"/>
                <a:cs typeface="Arial"/>
              </a:rPr>
              <a:t>formulaire</a:t>
            </a:r>
            <a:r>
              <a:rPr sz="1950" b="0" dirty="0">
                <a:solidFill>
                  <a:srgbClr val="087F75"/>
                </a:solidFill>
                <a:latin typeface="Arial"/>
                <a:ea typeface="Arial"/>
                <a:cs typeface="Arial"/>
              </a:rPr>
              <a:t> et résumé</a:t>
            </a:r>
          </a:p>
          <a:p>
            <a:endParaRPr sz="1950" b="0" dirty="0">
              <a:solidFill>
                <a:srgbClr val="087F75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950" b="0" dirty="0">
                <a:solidFill>
                  <a:srgbClr val="087F75"/>
                </a:solidFill>
                <a:latin typeface="Arial"/>
                <a:ea typeface="Arial"/>
                <a:cs typeface="Arial"/>
              </a:rPr>
              <a:t>Back-end : </a:t>
            </a:r>
            <a:r>
              <a:rPr sz="1950" b="0" dirty="0" err="1">
                <a:solidFill>
                  <a:srgbClr val="087F75"/>
                </a:solidFill>
                <a:latin typeface="Arial"/>
                <a:ea typeface="Arial"/>
                <a:cs typeface="Arial"/>
              </a:rPr>
              <a:t>contrôle</a:t>
            </a:r>
            <a:r>
              <a:rPr sz="1950" b="0" dirty="0">
                <a:solidFill>
                  <a:srgbClr val="087F75"/>
                </a:solidFill>
                <a:latin typeface="Arial"/>
                <a:ea typeface="Arial"/>
                <a:cs typeface="Arial"/>
              </a:rPr>
              <a:t> du </a:t>
            </a:r>
            <a:r>
              <a:rPr sz="1950" b="0" dirty="0" err="1">
                <a:solidFill>
                  <a:srgbClr val="087F75"/>
                </a:solidFill>
                <a:latin typeface="Arial"/>
                <a:ea typeface="Arial"/>
                <a:cs typeface="Arial"/>
              </a:rPr>
              <a:t>créneau</a:t>
            </a:r>
            <a:endParaRPr sz="1950" b="0" dirty="0">
              <a:solidFill>
                <a:srgbClr val="087F75"/>
              </a:solidFill>
              <a:latin typeface="Arial"/>
              <a:ea typeface="Arial"/>
              <a:cs typeface="Arial"/>
            </a:endParaRPr>
          </a:p>
          <a:p>
            <a:endParaRPr sz="1950" b="0" dirty="0">
              <a:solidFill>
                <a:srgbClr val="087F75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950" b="0" dirty="0">
                <a:solidFill>
                  <a:srgbClr val="087F75"/>
                </a:solidFill>
                <a:latin typeface="Arial"/>
                <a:ea typeface="Arial"/>
                <a:cs typeface="Arial"/>
              </a:rPr>
              <a:t>Base : </a:t>
            </a:r>
            <a:r>
              <a:rPr sz="1950" b="0" dirty="0" err="1">
                <a:solidFill>
                  <a:srgbClr val="087F75"/>
                </a:solidFill>
                <a:latin typeface="Arial"/>
                <a:ea typeface="Arial"/>
                <a:cs typeface="Arial"/>
              </a:rPr>
              <a:t>réservation</a:t>
            </a:r>
            <a:r>
              <a:rPr sz="1950" b="0" dirty="0">
                <a:solidFill>
                  <a:srgbClr val="087F75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087F75"/>
                </a:solidFill>
                <a:latin typeface="Arial"/>
                <a:ea typeface="Arial"/>
                <a:cs typeface="Arial"/>
              </a:rPr>
              <a:t>enregistrée</a:t>
            </a:r>
            <a:endParaRPr sz="1950" b="0" dirty="0">
              <a:solidFill>
                <a:srgbClr val="087F7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A5EAB1C2-7F5B-4997-9151-000715642B52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99179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5412C3D0-A3C7-438B-A504-61D284AAC4FF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382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COURS · SÉANCE 1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DA67C782-F939-46A7-B833-56BC2352DA97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React et les applications monopages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39D09B32-88AA-40DD-9904-E8155CE99C26}"/>
              </a:ext>
            </a:extLst>
          </p:cNvPr>
          <p:cNvSpPr>
            <a:spLocks noGrp="1"/>
          </p:cNvSpPr>
          <p:nvPr/>
        </p:nvSpPr>
        <p:spPr>
          <a:xfrm>
            <a:off x="723900" y="2000250"/>
            <a:ext cx="72390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React est une bibliothèque JavaScript pour construire des interfaces.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41B98D70-CF57-4E5D-8299-30823E4BF051}"/>
              </a:ext>
            </a:extLst>
          </p:cNvPr>
          <p:cNvSpPr>
            <a:spLocks noGrp="1"/>
          </p:cNvSpPr>
          <p:nvPr/>
        </p:nvSpPr>
        <p:spPr>
          <a:xfrm>
            <a:off x="723900" y="2971800"/>
            <a:ext cx="72390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Un composant décrit une partie de l’interface.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D7A9E3F4-9F31-4067-B903-54F729AD01F2}"/>
              </a:ext>
            </a:extLst>
          </p:cNvPr>
          <p:cNvSpPr>
            <a:spLocks noGrp="1"/>
          </p:cNvSpPr>
          <p:nvPr/>
        </p:nvSpPr>
        <p:spPr>
          <a:xfrm>
            <a:off x="723900" y="3943350"/>
            <a:ext cx="72390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Une SPA peut changer d’écran et actualiser son contenu sans recharger un document complet à chaque interaction.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E3EAD31A-5329-4A86-8F03-0A123FBB610E}"/>
              </a:ext>
            </a:extLst>
          </p:cNvPr>
          <p:cNvSpPr>
            <a:spLocks noGrp="1"/>
          </p:cNvSpPr>
          <p:nvPr/>
        </p:nvSpPr>
        <p:spPr>
          <a:xfrm>
            <a:off x="8477250" y="2000250"/>
            <a:ext cx="3000375" cy="3905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</a:lstStyle>
          <a:p>
            <a:endParaRPr sz="1950" b="0" dirty="0">
              <a:solidFill>
                <a:srgbClr val="087F75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950" b="0" dirty="0">
                <a:solidFill>
                  <a:srgbClr val="087F75"/>
                </a:solidFill>
                <a:latin typeface="Arial"/>
                <a:ea typeface="Arial"/>
                <a:cs typeface="Arial"/>
              </a:rPr>
              <a:t>React seul ne </a:t>
            </a:r>
            <a:r>
              <a:rPr sz="1950" b="0" dirty="0" err="1">
                <a:solidFill>
                  <a:srgbClr val="087F75"/>
                </a:solidFill>
                <a:latin typeface="Arial"/>
                <a:ea typeface="Arial"/>
                <a:cs typeface="Arial"/>
              </a:rPr>
              <a:t>fournit</a:t>
            </a:r>
            <a:r>
              <a:rPr sz="1950" b="0" dirty="0">
                <a:solidFill>
                  <a:srgbClr val="087F75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087F75"/>
                </a:solidFill>
                <a:latin typeface="Arial"/>
                <a:ea typeface="Arial"/>
                <a:cs typeface="Arial"/>
              </a:rPr>
              <a:t>ni</a:t>
            </a:r>
            <a:r>
              <a:rPr sz="1950" b="0" dirty="0">
                <a:solidFill>
                  <a:srgbClr val="087F75"/>
                </a:solidFill>
                <a:latin typeface="Arial"/>
                <a:ea typeface="Arial"/>
                <a:cs typeface="Arial"/>
              </a:rPr>
              <a:t> base de données </a:t>
            </a:r>
            <a:r>
              <a:rPr sz="1950" b="0" dirty="0" err="1">
                <a:solidFill>
                  <a:srgbClr val="087F75"/>
                </a:solidFill>
                <a:latin typeface="Arial"/>
                <a:ea typeface="Arial"/>
                <a:cs typeface="Arial"/>
              </a:rPr>
              <a:t>ni</a:t>
            </a:r>
            <a:r>
              <a:rPr sz="1950" b="0" dirty="0">
                <a:solidFill>
                  <a:srgbClr val="087F75"/>
                </a:solidFill>
                <a:latin typeface="Arial"/>
                <a:ea typeface="Arial"/>
                <a:cs typeface="Arial"/>
              </a:rPr>
              <a:t> API métier.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38BCDDF4-C935-4C1B-AFEC-18C88FCC0380}"/>
              </a:ext>
            </a:extLst>
          </p:cNvPr>
          <p:cNvSpPr>
            <a:spLocks noGrp="1"/>
          </p:cNvSpPr>
          <p:nvPr/>
        </p:nvSpPr>
        <p:spPr>
          <a:xfrm>
            <a:off x="723900" y="5943600"/>
            <a:ext cx="106680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React décrit l’interface à partir des données et coordonne les mises à jour du DOM.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266D3044-3469-4AE5-ADEF-DA8490B839DD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09185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B2E1694D-5522-4327-AFCE-993C75BB7038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382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 dirty="0">
                <a:solidFill>
                  <a:srgbClr val="087F75"/>
                </a:solidFill>
                <a:latin typeface="Arial"/>
                <a:ea typeface="Arial"/>
                <a:cs typeface="Arial"/>
              </a:rPr>
              <a:t>EXERCICE 1 · 3 MIN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A3866171-E05A-4510-976D-03855B234B71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Qui prend en charge chaque tâche ?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541B512D-F0C8-4497-B225-2895AFB627EC}"/>
              </a:ext>
            </a:extLst>
          </p:cNvPr>
          <p:cNvSpPr>
            <a:spLocks noGrp="1"/>
          </p:cNvSpPr>
          <p:nvPr/>
        </p:nvSpPr>
        <p:spPr>
          <a:xfrm>
            <a:off x="723900" y="2000250"/>
            <a:ext cx="107632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A. </a:t>
            </a:r>
            <a:r>
              <a:rPr sz="2250" b="0" dirty="0" err="1">
                <a:solidFill>
                  <a:srgbClr val="102C38"/>
                </a:solidFill>
                <a:latin typeface="Arial"/>
                <a:ea typeface="Arial"/>
                <a:cs typeface="Arial"/>
              </a:rPr>
              <a:t>Afficher</a:t>
            </a:r>
            <a:r>
              <a:rPr sz="2250" b="0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 le nom et le prix </a:t>
            </a:r>
            <a:r>
              <a:rPr sz="2250" b="0" dirty="0" err="1">
                <a:solidFill>
                  <a:srgbClr val="102C38"/>
                </a:solidFill>
                <a:latin typeface="Arial"/>
                <a:ea typeface="Arial"/>
                <a:cs typeface="Arial"/>
              </a:rPr>
              <a:t>d’une</a:t>
            </a:r>
            <a:r>
              <a:rPr sz="2250" b="0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 salle.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DD327DDA-6038-4686-A79B-943E0A9D8FA6}"/>
              </a:ext>
            </a:extLst>
          </p:cNvPr>
          <p:cNvSpPr>
            <a:spLocks noGrp="1"/>
          </p:cNvSpPr>
          <p:nvPr/>
        </p:nvSpPr>
        <p:spPr>
          <a:xfrm>
            <a:off x="723900" y="2971800"/>
            <a:ext cx="107632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B. Refuser deux réservations simultanées du même créneau.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5AFF8919-1875-450E-A2B9-DD8F8717BB5F}"/>
              </a:ext>
            </a:extLst>
          </p:cNvPr>
          <p:cNvSpPr>
            <a:spLocks noGrp="1"/>
          </p:cNvSpPr>
          <p:nvPr/>
        </p:nvSpPr>
        <p:spPr>
          <a:xfrm>
            <a:off x="723900" y="3943350"/>
            <a:ext cx="107632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C. Conserver la réservation après fermeture du navigateur.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D62201E5-CBB9-4DB8-8C3F-88F02DE11C3D}"/>
              </a:ext>
            </a:extLst>
          </p:cNvPr>
          <p:cNvSpPr>
            <a:spLocks noGrp="1"/>
          </p:cNvSpPr>
          <p:nvPr/>
        </p:nvSpPr>
        <p:spPr>
          <a:xfrm>
            <a:off x="723900" y="4914900"/>
            <a:ext cx="107632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D. Afficher « Réservation confirmée » après une réponse positive.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EA9744FA-6098-4D59-8A3F-C6DD25355C4E}"/>
              </a:ext>
            </a:extLst>
          </p:cNvPr>
          <p:cNvSpPr>
            <a:spLocks noGrp="1"/>
          </p:cNvSpPr>
          <p:nvPr/>
        </p:nvSpPr>
        <p:spPr>
          <a:xfrm>
            <a:off x="723900" y="5943600"/>
            <a:ext cx="106680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Pour chaque proposition : front-end, back-end ou base de données. Justifier en une phrase.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EF5FAEF3-9B72-49DE-87B7-2C0DADA6C96B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83725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DA5D9767-6F82-4DCC-8CA5-5B3AD7C4C8BB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382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CORRIGÉ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D72EB5F7-50C7-47F8-9231-20509684BD0D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Les responsabilités dans la réservation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7E6F8791-E18F-47E0-BBF8-B5D3DDDED265}"/>
              </a:ext>
            </a:extLst>
          </p:cNvPr>
          <p:cNvSpPr>
            <a:spLocks noGrp="1"/>
          </p:cNvSpPr>
          <p:nvPr/>
        </p:nvSpPr>
        <p:spPr>
          <a:xfrm>
            <a:off x="723900" y="2000250"/>
            <a:ext cx="107632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A. Front-end : présenter les données.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00B568F4-08FB-44C5-BB7E-9B2BDA6D856D}"/>
              </a:ext>
            </a:extLst>
          </p:cNvPr>
          <p:cNvSpPr>
            <a:spLocks noGrp="1"/>
          </p:cNvSpPr>
          <p:nvPr/>
        </p:nvSpPr>
        <p:spPr>
          <a:xfrm>
            <a:off x="723900" y="2971800"/>
            <a:ext cx="107632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B. Back-end : vérifier et garantir la disponibilité.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DF74F15E-2051-46D6-A8EE-63AF3267A772}"/>
              </a:ext>
            </a:extLst>
          </p:cNvPr>
          <p:cNvSpPr>
            <a:spLocks noGrp="1"/>
          </p:cNvSpPr>
          <p:nvPr/>
        </p:nvSpPr>
        <p:spPr>
          <a:xfrm>
            <a:off x="723900" y="3943350"/>
            <a:ext cx="107632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C. Base de données, via le back-end : conserver l’enregistrement.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B0625511-F0B0-4B2E-8100-FEDECB41BD97}"/>
              </a:ext>
            </a:extLst>
          </p:cNvPr>
          <p:cNvSpPr>
            <a:spLocks noGrp="1"/>
          </p:cNvSpPr>
          <p:nvPr/>
        </p:nvSpPr>
        <p:spPr>
          <a:xfrm>
            <a:off x="723900" y="4914900"/>
            <a:ext cx="107632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D. Front-end : présenter le résultat reçu du serveur.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964DA567-C3B8-4F83-871B-036921CFD5DE}"/>
              </a:ext>
            </a:extLst>
          </p:cNvPr>
          <p:cNvSpPr>
            <a:spLocks noGrp="1"/>
          </p:cNvSpPr>
          <p:nvPr/>
        </p:nvSpPr>
        <p:spPr>
          <a:xfrm>
            <a:off x="723900" y="5943600"/>
            <a:ext cx="106680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Le navigateur et le serveur collaborent pendant une réservation.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9F549952-06BD-4E5E-A018-CC79883EB4C8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5278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">
            <a:extLst>
              <a:ext uri="{FF2B5EF4-FFF2-40B4-BE49-F238E27FC236}">
                <a16:creationId xmlns:a16="http://schemas.microsoft.com/office/drawing/2014/main" id="{DDE2B8A7-873B-4482-B8F8-D3CCA54073A9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382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COURS · SÉANCE 1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7ACE23DA-D617-4378-BF09-522090E4611D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225" b="1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Un </a:t>
            </a:r>
            <a:r>
              <a:rPr sz="3225" b="1" dirty="0" err="1">
                <a:solidFill>
                  <a:srgbClr val="102C38"/>
                </a:solidFill>
                <a:latin typeface="Arial"/>
                <a:ea typeface="Arial"/>
                <a:cs typeface="Arial"/>
              </a:rPr>
              <a:t>objet</a:t>
            </a:r>
            <a:r>
              <a:rPr sz="3225" b="1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 JavaScript </a:t>
            </a:r>
            <a:r>
              <a:rPr sz="3225" b="1" dirty="0" err="1">
                <a:solidFill>
                  <a:srgbClr val="102C38"/>
                </a:solidFill>
                <a:latin typeface="Arial"/>
                <a:ea typeface="Arial"/>
                <a:cs typeface="Arial"/>
              </a:rPr>
              <a:t>représente</a:t>
            </a:r>
            <a:r>
              <a:rPr sz="3225" b="1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3225" b="1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"</a:t>
            </a:r>
            <a:r>
              <a:rPr sz="3225" b="1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un</a:t>
            </a:r>
            <a:r>
              <a:rPr lang="fr-FR" sz="3225" b="1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 local " par exemple</a:t>
            </a:r>
            <a:endParaRPr sz="3225" b="1" dirty="0">
              <a:solidFill>
                <a:srgbClr val="102C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D9FCCC17-03B4-438E-9A33-BED16551C8BC}"/>
              </a:ext>
            </a:extLst>
          </p:cNvPr>
          <p:cNvSpPr>
            <a:spLocks noGrp="1"/>
          </p:cNvSpPr>
          <p:nvPr/>
        </p:nvSpPr>
        <p:spPr>
          <a:xfrm>
            <a:off x="723900" y="1943100"/>
            <a:ext cx="7239000" cy="2038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const </a:t>
            </a:r>
            <a:r>
              <a:rPr lang="fr-FR"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local</a:t>
            </a: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= {</a:t>
            </a: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nom: "Salle Atlas",</a:t>
            </a: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2025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capacite</a:t>
            </a: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: 40,</a:t>
            </a: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2025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prixHeure</a:t>
            </a: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: 150,</a:t>
            </a: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disponible: true</a:t>
            </a: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};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0EB838F6-BA7D-449E-86AC-C040B29F52E7}"/>
              </a:ext>
            </a:extLst>
          </p:cNvPr>
          <p:cNvSpPr>
            <a:spLocks noGrp="1"/>
          </p:cNvSpPr>
          <p:nvPr/>
        </p:nvSpPr>
        <p:spPr>
          <a:xfrm>
            <a:off x="8439150" y="1933575"/>
            <a:ext cx="3048000" cy="409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75" b="0" dirty="0" err="1">
                <a:solidFill>
                  <a:srgbClr val="102C38"/>
                </a:solidFill>
                <a:latin typeface="Arial"/>
                <a:ea typeface="Arial"/>
                <a:cs typeface="Arial"/>
              </a:rPr>
              <a:t>local.nom</a:t>
            </a:r>
            <a:endParaRPr sz="1875" b="0" dirty="0">
              <a:solidFill>
                <a:srgbClr val="102C38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→ "Salle Atlas"</a:t>
            </a:r>
          </a:p>
          <a:p>
            <a:endParaRPr sz="1875" b="0" dirty="0">
              <a:solidFill>
                <a:srgbClr val="102C38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75" b="0" dirty="0" err="1">
                <a:solidFill>
                  <a:srgbClr val="102C38"/>
                </a:solidFill>
                <a:latin typeface="Arial"/>
                <a:ea typeface="Arial"/>
                <a:cs typeface="Arial"/>
              </a:rPr>
              <a:t>local.prixHeure</a:t>
            </a:r>
            <a:endParaRPr sz="1875" b="0" dirty="0">
              <a:solidFill>
                <a:srgbClr val="102C38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→ 150</a:t>
            </a:r>
          </a:p>
          <a:p>
            <a:endParaRPr sz="1875" b="0" dirty="0">
              <a:solidFill>
                <a:srgbClr val="102C38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75" b="0" dirty="0" err="1">
                <a:solidFill>
                  <a:srgbClr val="102C38"/>
                </a:solidFill>
                <a:latin typeface="Arial"/>
                <a:ea typeface="Arial"/>
                <a:cs typeface="Arial"/>
              </a:rPr>
              <a:t>local.disponible</a:t>
            </a:r>
            <a:endParaRPr sz="1875" b="0" dirty="0">
              <a:solidFill>
                <a:srgbClr val="102C38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→ true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5FEE6AF1-D24B-4C41-9B36-BBBF0FAE0878}"/>
              </a:ext>
            </a:extLst>
          </p:cNvPr>
          <p:cNvSpPr>
            <a:spLocks noGrp="1"/>
          </p:cNvSpPr>
          <p:nvPr/>
        </p:nvSpPr>
        <p:spPr>
          <a:xfrm>
            <a:off x="723900" y="5943600"/>
            <a:ext cx="106680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Une propriété associe un nom à une valeur. Ici : chaîne, nombre ou booléen.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4C0E26DD-4647-4EC1-91C6-B7AE41FD3C86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82181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">
            <a:extLst>
              <a:ext uri="{FF2B5EF4-FFF2-40B4-BE49-F238E27FC236}">
                <a16:creationId xmlns:a16="http://schemas.microsoft.com/office/drawing/2014/main" id="{184A3BF8-E27D-4F98-A2C7-0E7CE1DF04F8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382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COURS · SÉANCE 1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8B609109-9FE9-4C18-935C-12235CD9817C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Une fonction calcule un résultat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87B0CD04-EEAE-4F29-960A-06C29759D989}"/>
              </a:ext>
            </a:extLst>
          </p:cNvPr>
          <p:cNvSpPr>
            <a:spLocks noGrp="1"/>
          </p:cNvSpPr>
          <p:nvPr/>
        </p:nvSpPr>
        <p:spPr>
          <a:xfrm>
            <a:off x="723900" y="1943100"/>
            <a:ext cx="10668000" cy="1714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function calculerPrix(prixHeure, duree) {</a:t>
            </a: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return prixHeure * duree;</a:t>
            </a: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endParaRPr sz="2025" b="0">
              <a:solidFill>
                <a:srgbClr val="087F75"/>
              </a:solidFill>
              <a:latin typeface="Consolas"/>
              <a:ea typeface="Consolas"/>
              <a:cs typeface="Consolas"/>
            </a:endParaRP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calculerPrix(150, 2); // 300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0561BAC4-4E3D-46C5-A91A-D5691D9EDD3F}"/>
              </a:ext>
            </a:extLst>
          </p:cNvPr>
          <p:cNvSpPr>
            <a:spLocks noGrp="1"/>
          </p:cNvSpPr>
          <p:nvPr/>
        </p:nvSpPr>
        <p:spPr>
          <a:xfrm>
            <a:off x="723900" y="3771900"/>
            <a:ext cx="105727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prixHeure et duree sont les paramètres.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AF48BC28-DF43-40AC-9143-559A739C5F22}"/>
              </a:ext>
            </a:extLst>
          </p:cNvPr>
          <p:cNvSpPr>
            <a:spLocks noGrp="1"/>
          </p:cNvSpPr>
          <p:nvPr/>
        </p:nvSpPr>
        <p:spPr>
          <a:xfrm>
            <a:off x="723900" y="4391025"/>
            <a:ext cx="105727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150 et 2 sont les arguments de cet appel.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142798C9-CD7F-4D15-BD00-C724F1DDAFED}"/>
              </a:ext>
            </a:extLst>
          </p:cNvPr>
          <p:cNvSpPr>
            <a:spLocks noGrp="1"/>
          </p:cNvSpPr>
          <p:nvPr/>
        </p:nvSpPr>
        <p:spPr>
          <a:xfrm>
            <a:off x="723900" y="5010150"/>
            <a:ext cx="105727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Le résultat sera utilisé dans l’interface.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5044AF31-5E27-4E32-919D-5545DA28A79E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6467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">
            <a:extLst>
              <a:ext uri="{FF2B5EF4-FFF2-40B4-BE49-F238E27FC236}">
                <a16:creationId xmlns:a16="http://schemas.microsoft.com/office/drawing/2014/main" id="{7E832252-5E40-46DB-B98A-1E050DB5C82A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382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 dirty="0">
                <a:solidFill>
                  <a:srgbClr val="087F75"/>
                </a:solidFill>
                <a:latin typeface="Arial"/>
                <a:ea typeface="Arial"/>
                <a:cs typeface="Arial"/>
              </a:rPr>
              <a:t>EXERCICE 2 · 7 MIN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A753BB74-A121-4469-A9C6-67800C25DA30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Lecture et calcul à partir d’un objet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505D4FAB-25B9-4FBA-B658-4CEC32B266A3}"/>
              </a:ext>
            </a:extLst>
          </p:cNvPr>
          <p:cNvSpPr>
            <a:spLocks noGrp="1"/>
          </p:cNvSpPr>
          <p:nvPr/>
        </p:nvSpPr>
        <p:spPr>
          <a:xfrm>
            <a:off x="723900" y="1943100"/>
            <a:ext cx="7239000" cy="2038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const </a:t>
            </a:r>
            <a:r>
              <a:rPr lang="fr-FR" sz="2025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local</a:t>
            </a: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= {</a:t>
            </a: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nom: "Salle Atlas",</a:t>
            </a: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2025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capacite</a:t>
            </a: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: 40,</a:t>
            </a: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2025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prixHeure</a:t>
            </a: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: 150,</a:t>
            </a: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disponible: true</a:t>
            </a: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};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CA91793E-1B9F-4DB8-8310-F43073700E41}"/>
              </a:ext>
            </a:extLst>
          </p:cNvPr>
          <p:cNvSpPr>
            <a:spLocks noGrp="1"/>
          </p:cNvSpPr>
          <p:nvPr/>
        </p:nvSpPr>
        <p:spPr>
          <a:xfrm>
            <a:off x="8439150" y="1933575"/>
            <a:ext cx="3048000" cy="409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1. Afficher le nom dans la console.</a:t>
            </a:r>
          </a:p>
          <a:p>
            <a:endParaRPr sz="1875" b="0">
              <a:solidFill>
                <a:srgbClr val="102C38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2. Calculer le prix pour 3 heures.</a:t>
            </a:r>
          </a:p>
          <a:p>
            <a:endParaRPr sz="1875" b="0">
              <a:solidFill>
                <a:srgbClr val="102C38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3. Écrire la fonction calculerPrix.</a:t>
            </a:r>
          </a:p>
          <a:p>
            <a:endParaRPr sz="1875" b="0">
              <a:solidFill>
                <a:srgbClr val="102C38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4. Tester avec 200 DH et 2 heures.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E2565762-8E33-41A1-91A2-81103AE84CE0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76381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">
            <a:extLst>
              <a:ext uri="{FF2B5EF4-FFF2-40B4-BE49-F238E27FC236}">
                <a16:creationId xmlns:a16="http://schemas.microsoft.com/office/drawing/2014/main" id="{73251CB6-7995-4B6D-991E-91559CD8F107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382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CORRIGÉ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5FAAB972-0A15-4FE5-A4BB-7B687C63D64E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Lecture et calcul : une solution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AF9607EA-4CFE-44C0-BE59-88596095FC58}"/>
              </a:ext>
            </a:extLst>
          </p:cNvPr>
          <p:cNvSpPr>
            <a:spLocks noGrp="1"/>
          </p:cNvSpPr>
          <p:nvPr/>
        </p:nvSpPr>
        <p:spPr>
          <a:xfrm>
            <a:off x="723900" y="1943100"/>
            <a:ext cx="10668000" cy="2686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console.log(</a:t>
            </a:r>
            <a:r>
              <a:rPr lang="fr-FR" sz="2025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local</a:t>
            </a: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.nom); // Salle Atlas</a:t>
            </a:r>
          </a:p>
          <a:p>
            <a:endParaRPr sz="2025" b="0" dirty="0">
              <a:solidFill>
                <a:srgbClr val="087F75"/>
              </a:solidFill>
              <a:latin typeface="Consolas"/>
              <a:ea typeface="Consolas"/>
              <a:cs typeface="Consolas"/>
            </a:endParaRP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function </a:t>
            </a:r>
            <a:r>
              <a:rPr sz="2025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calculerPrix</a:t>
            </a: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2025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prixHeure</a:t>
            </a: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2025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duree</a:t>
            </a: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) {</a:t>
            </a: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return </a:t>
            </a:r>
            <a:r>
              <a:rPr sz="2025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prixHeure</a:t>
            </a: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* </a:t>
            </a:r>
            <a:r>
              <a:rPr sz="2025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duree</a:t>
            </a: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endParaRPr sz="2025" b="0" dirty="0">
              <a:solidFill>
                <a:srgbClr val="087F75"/>
              </a:solidFill>
              <a:latin typeface="Consolas"/>
              <a:ea typeface="Consolas"/>
              <a:cs typeface="Consolas"/>
            </a:endParaRP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console.log(</a:t>
            </a:r>
            <a:r>
              <a:rPr sz="2025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calculerPrix</a:t>
            </a: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(</a:t>
            </a:r>
            <a:r>
              <a:rPr lang="fr-FR" sz="2025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local</a:t>
            </a: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2025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prixHeure</a:t>
            </a: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, 3)); // 450</a:t>
            </a: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console.log(</a:t>
            </a:r>
            <a:r>
              <a:rPr sz="2025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calculerPrix</a:t>
            </a: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(200, 2)); // 400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D6E418A4-00C3-4C50-A5E3-236B40F8D884}"/>
              </a:ext>
            </a:extLst>
          </p:cNvPr>
          <p:cNvSpPr>
            <a:spLocks noGrp="1"/>
          </p:cNvSpPr>
          <p:nvPr/>
        </p:nvSpPr>
        <p:spPr>
          <a:xfrm>
            <a:off x="723900" y="5943600"/>
            <a:ext cx="106680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Le calcul utilise les paramètres : il fonctionne aussi pour un autre tarif.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B2480D27-8F1C-4CDE-BFAB-07F9FC6A9948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854161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">
            <a:extLst>
              <a:ext uri="{FF2B5EF4-FFF2-40B4-BE49-F238E27FC236}">
                <a16:creationId xmlns:a16="http://schemas.microsoft.com/office/drawing/2014/main" id="{E87FE219-75AD-41ED-B45B-879DDAE4D255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382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COURS · SÉANCE 1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B82C4F07-C4D2-45B6-9E25-88A8A5B39544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Les imports relient les fichiers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0B35E57F-F419-44CB-9E49-C0693A5FF2A2}"/>
              </a:ext>
            </a:extLst>
          </p:cNvPr>
          <p:cNvSpPr>
            <a:spLocks noGrp="1"/>
          </p:cNvSpPr>
          <p:nvPr/>
        </p:nvSpPr>
        <p:spPr>
          <a:xfrm>
            <a:off x="723900" y="1943100"/>
            <a:ext cx="7239000" cy="1714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// local.js</a:t>
            </a: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export const </a:t>
            </a:r>
            <a:r>
              <a:rPr lang="fr-FR" sz="2025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local</a:t>
            </a: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= { nom: "Salle Atlas" };</a:t>
            </a:r>
          </a:p>
          <a:p>
            <a:endParaRPr sz="2025" b="0" dirty="0">
              <a:solidFill>
                <a:srgbClr val="087F75"/>
              </a:solidFill>
              <a:latin typeface="Consolas"/>
              <a:ea typeface="Consolas"/>
              <a:cs typeface="Consolas"/>
            </a:endParaRP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// </a:t>
            </a:r>
            <a:r>
              <a:rPr sz="2025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App.jsx</a:t>
            </a:r>
            <a:endParaRPr sz="2025" b="0" dirty="0">
              <a:solidFill>
                <a:srgbClr val="087F75"/>
              </a:solidFill>
              <a:latin typeface="Consolas"/>
              <a:ea typeface="Consolas"/>
              <a:cs typeface="Consolas"/>
            </a:endParaRP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import {</a:t>
            </a:r>
            <a:r>
              <a:rPr lang="fr-FR" sz="2025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local</a:t>
            </a: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} from "./local.js";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F26ACE28-B896-43E2-862A-91D54B2C92A9}"/>
              </a:ext>
            </a:extLst>
          </p:cNvPr>
          <p:cNvSpPr>
            <a:spLocks noGrp="1"/>
          </p:cNvSpPr>
          <p:nvPr/>
        </p:nvSpPr>
        <p:spPr>
          <a:xfrm>
            <a:off x="8439150" y="1933575"/>
            <a:ext cx="3048000" cy="409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Export nommé</a:t>
            </a:r>
          </a:p>
          <a:p>
            <a:pPr>
              <a:defRPr sz="187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import { local }</a:t>
            </a:r>
          </a:p>
          <a:p>
            <a:endParaRPr sz="1875" b="0">
              <a:solidFill>
                <a:srgbClr val="102C38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Export par défaut</a:t>
            </a:r>
          </a:p>
          <a:p>
            <a:pPr>
              <a:defRPr sz="187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export default App;</a:t>
            </a:r>
          </a:p>
          <a:p>
            <a:pPr>
              <a:defRPr sz="187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import App from "./App.jsx";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B95E12BE-4992-4E1C-9A64-A919B539C1C3}"/>
              </a:ext>
            </a:extLst>
          </p:cNvPr>
          <p:cNvSpPr>
            <a:spLocks noGrp="1"/>
          </p:cNvSpPr>
          <p:nvPr/>
        </p:nvSpPr>
        <p:spPr>
          <a:xfrm>
            <a:off x="723900" y="5943600"/>
            <a:ext cx="106680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Le chemin indique le fichier. Un import nommé utilise des accolades.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E16F4F74-1F40-4601-9B58-B6A357DB5967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77340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">
            <a:extLst>
              <a:ext uri="{FF2B5EF4-FFF2-40B4-BE49-F238E27FC236}">
                <a16:creationId xmlns:a16="http://schemas.microsoft.com/office/drawing/2014/main" id="{AABC5B7C-2047-4A0C-B33A-D8204E4F71AC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382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COURS · SÉANCE 1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0EC65415-212F-427E-A7DF-CCC2691D4D39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Les fichiers utiles du projet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A94D80D5-0F33-47A9-85DF-ED3F57EE1A44}"/>
              </a:ext>
            </a:extLst>
          </p:cNvPr>
          <p:cNvSpPr>
            <a:spLocks noGrp="1"/>
          </p:cNvSpPr>
          <p:nvPr/>
        </p:nvSpPr>
        <p:spPr>
          <a:xfrm>
            <a:off x="723900" y="1943100"/>
            <a:ext cx="7239000" cy="2038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src/</a:t>
            </a: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main.jsx       // démarre le rendu React</a:t>
            </a: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App.jsx        // composant principal</a:t>
            </a: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local.js       // données</a:t>
            </a: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calculs.js     // fonction de calcul</a:t>
            </a: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style.css      // apparence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12C95269-7097-4AF7-9AD9-14D246323F27}"/>
              </a:ext>
            </a:extLst>
          </p:cNvPr>
          <p:cNvSpPr>
            <a:spLocks noGrp="1"/>
          </p:cNvSpPr>
          <p:nvPr/>
        </p:nvSpPr>
        <p:spPr>
          <a:xfrm>
            <a:off x="8439150" y="1933575"/>
            <a:ext cx="3048000" cy="409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Aujourd’hui</a:t>
            </a:r>
          </a:p>
          <a:p>
            <a:endParaRPr sz="1875" b="0">
              <a:solidFill>
                <a:srgbClr val="102C38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Lire les données.</a:t>
            </a:r>
          </a:p>
          <a:p>
            <a:endParaRPr sz="1875" b="0">
              <a:solidFill>
                <a:srgbClr val="102C38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Modifier App.jsx.</a:t>
            </a:r>
          </a:p>
          <a:p>
            <a:endParaRPr sz="1875" b="0">
              <a:solidFill>
                <a:srgbClr val="102C38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Réutiliser le CSS fourni.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A40C8F57-9EC1-4D5C-96A6-CDA80ED96157}"/>
              </a:ext>
            </a:extLst>
          </p:cNvPr>
          <p:cNvSpPr>
            <a:spLocks noGrp="1"/>
          </p:cNvSpPr>
          <p:nvPr/>
        </p:nvSpPr>
        <p:spPr>
          <a:xfrm>
            <a:off x="723900" y="5943600"/>
            <a:ext cx="106680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Le projet de départ fonctionne déjà. L’installation se prépare avant la séance.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55CF448E-9A0E-441F-97CF-0674CBCA396E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7990236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">
            <a:extLst>
              <a:ext uri="{FF2B5EF4-FFF2-40B4-BE49-F238E27FC236}">
                <a16:creationId xmlns:a16="http://schemas.microsoft.com/office/drawing/2014/main" id="{DA270CD7-BC01-431F-BA36-BD5694C117B3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382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COURS · SÉANCE 1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359A3417-009F-4A35-83A2-C9B7ED90CDA6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Un composant retourne du JSX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3F0B7E2A-B7C2-4102-98F3-1F5246E39221}"/>
              </a:ext>
            </a:extLst>
          </p:cNvPr>
          <p:cNvSpPr>
            <a:spLocks noGrp="1"/>
          </p:cNvSpPr>
          <p:nvPr/>
        </p:nvSpPr>
        <p:spPr>
          <a:xfrm>
            <a:off x="723900" y="1943100"/>
            <a:ext cx="7239000" cy="2686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export default function App() {</a:t>
            </a: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return (</a:t>
            </a: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  &lt;main&gt;</a:t>
            </a: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    &lt;h1&gt;Location de </a:t>
            </a:r>
            <a:r>
              <a:rPr lang="fr-FR" sz="2025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salles</a:t>
            </a: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&lt;/h1&gt;</a:t>
            </a: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    &lt;p&gt;Bienvenue&lt;/p&gt;</a:t>
            </a: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  &lt;/main&gt;</a:t>
            </a: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);</a:t>
            </a: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65848F67-6FA2-42A6-88FE-28D04D9AA7B2}"/>
              </a:ext>
            </a:extLst>
          </p:cNvPr>
          <p:cNvSpPr>
            <a:spLocks noGrp="1"/>
          </p:cNvSpPr>
          <p:nvPr/>
        </p:nvSpPr>
        <p:spPr>
          <a:xfrm>
            <a:off x="8439150" y="1933575"/>
            <a:ext cx="3048000" cy="409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App commence par une majuscule.</a:t>
            </a:r>
          </a:p>
          <a:p>
            <a:endParaRPr sz="1875" b="0">
              <a:solidFill>
                <a:srgbClr val="102C38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return fournit le contenu.</a:t>
            </a:r>
          </a:p>
          <a:p>
            <a:endParaRPr sz="1875" b="0">
              <a:solidFill>
                <a:srgbClr val="102C38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Le JSX décrit l’interface.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36993D26-F61A-4FFD-8B2D-623F9C4631DC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6790001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3196E06E-4663-4317-83AF-E6A5B676ED92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382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 dirty="0">
                <a:solidFill>
                  <a:srgbClr val="087F75"/>
                </a:solidFill>
                <a:latin typeface="Arial"/>
                <a:ea typeface="Arial"/>
                <a:cs typeface="Arial"/>
              </a:rPr>
              <a:t>EXERCICE 3 · 6 MIN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45EACDBB-84C7-4839-A4DE-9FB2116DCCAC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Votre premier écran React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DC0CDCAF-6857-4075-A4A6-BF13040E168F}"/>
              </a:ext>
            </a:extLst>
          </p:cNvPr>
          <p:cNvSpPr>
            <a:spLocks noGrp="1"/>
          </p:cNvSpPr>
          <p:nvPr/>
        </p:nvSpPr>
        <p:spPr>
          <a:xfrm>
            <a:off x="723900" y="2000250"/>
            <a:ext cx="107632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Dans src/App.jsx, remplacer le titre par « Réserver un local ».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9BD12275-2B7C-4F90-B5E4-3EDE9436D0FB}"/>
              </a:ext>
            </a:extLst>
          </p:cNvPr>
          <p:cNvSpPr>
            <a:spLocks noGrp="1"/>
          </p:cNvSpPr>
          <p:nvPr/>
        </p:nvSpPr>
        <p:spPr>
          <a:xfrm>
            <a:off x="723900" y="2971800"/>
            <a:ext cx="107632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 dirty="0" err="1">
                <a:solidFill>
                  <a:srgbClr val="102C38"/>
                </a:solidFill>
                <a:latin typeface="Arial"/>
                <a:ea typeface="Arial"/>
                <a:cs typeface="Arial"/>
              </a:rPr>
              <a:t>Ajouter</a:t>
            </a:r>
            <a:r>
              <a:rPr sz="2250" b="0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 un </a:t>
            </a:r>
            <a:r>
              <a:rPr sz="2250" b="0" dirty="0" err="1">
                <a:solidFill>
                  <a:srgbClr val="102C38"/>
                </a:solidFill>
                <a:latin typeface="Arial"/>
                <a:ea typeface="Arial"/>
                <a:cs typeface="Arial"/>
              </a:rPr>
              <a:t>paragraphe</a:t>
            </a:r>
            <a:r>
              <a:rPr sz="2250" b="0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 « Salle de </a:t>
            </a:r>
            <a:r>
              <a:rPr sz="2250" b="0" dirty="0" err="1">
                <a:solidFill>
                  <a:srgbClr val="102C38"/>
                </a:solidFill>
                <a:latin typeface="Arial"/>
                <a:ea typeface="Arial"/>
                <a:cs typeface="Arial"/>
              </a:rPr>
              <a:t>conférence</a:t>
            </a:r>
            <a:r>
              <a:rPr sz="2250" b="0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 ».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CF23385B-E1B1-4DFB-985E-18A4AE810EF6}"/>
              </a:ext>
            </a:extLst>
          </p:cNvPr>
          <p:cNvSpPr>
            <a:spLocks noGrp="1"/>
          </p:cNvSpPr>
          <p:nvPr/>
        </p:nvSpPr>
        <p:spPr>
          <a:xfrm>
            <a:off x="723900" y="3943350"/>
            <a:ext cx="107632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Ajouter un second paragraphe « Séance 1 ».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196DF1A2-E931-414C-B4DF-85B5E2F546D9}"/>
              </a:ext>
            </a:extLst>
          </p:cNvPr>
          <p:cNvSpPr>
            <a:spLocks noGrp="1"/>
          </p:cNvSpPr>
          <p:nvPr/>
        </p:nvSpPr>
        <p:spPr>
          <a:xfrm>
            <a:off x="723900" y="4914900"/>
            <a:ext cx="107632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Enregistrer puis vérifier le résultat dans le navigateur.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C548D675-5749-49F5-B0E5-04AA427B4F25}"/>
              </a:ext>
            </a:extLst>
          </p:cNvPr>
          <p:cNvSpPr>
            <a:spLocks noGrp="1"/>
          </p:cNvSpPr>
          <p:nvPr/>
        </p:nvSpPr>
        <p:spPr>
          <a:xfrm>
            <a:off x="723900" y="5943600"/>
            <a:ext cx="106680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Réussite : trois textes visibles, une page sans erreur. La personne qui n’a pas codé explique return.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2CA79E1E-4AB1-4954-8AE1-EAB3F3313D50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0125544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">
            <a:extLst>
              <a:ext uri="{FF2B5EF4-FFF2-40B4-BE49-F238E27FC236}">
                <a16:creationId xmlns:a16="http://schemas.microsoft.com/office/drawing/2014/main" id="{C0A8967F-E930-4343-B246-466EB5B78D34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382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CORRIGÉ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E47CE9E2-23FB-4D39-9F30-84CA5F149690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Premier écran : une solution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F7AD4DF4-EDB8-4B13-BD18-A2C76B7F7DE9}"/>
              </a:ext>
            </a:extLst>
          </p:cNvPr>
          <p:cNvSpPr>
            <a:spLocks noGrp="1"/>
          </p:cNvSpPr>
          <p:nvPr/>
        </p:nvSpPr>
        <p:spPr>
          <a:xfrm>
            <a:off x="723900" y="1943100"/>
            <a:ext cx="10668000" cy="3009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export default function App() {</a:t>
            </a: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return (</a:t>
            </a: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  &lt;main&gt;</a:t>
            </a: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    &lt;h1&gt;</a:t>
            </a:r>
            <a:r>
              <a:rPr sz="2025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Réserver</a:t>
            </a: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un local&lt;/h1&gt;</a:t>
            </a: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    &lt;p&gt;Salle de </a:t>
            </a:r>
            <a:r>
              <a:rPr sz="2025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conférence</a:t>
            </a: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&lt;/p&gt;</a:t>
            </a: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    &lt;p&gt;Séance 1&lt;/p&gt;</a:t>
            </a: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  &lt;/main&gt;</a:t>
            </a: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);</a:t>
            </a: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EEA19989-94E3-4036-858F-E70FC3F8D8E9}"/>
              </a:ext>
            </a:extLst>
          </p:cNvPr>
          <p:cNvSpPr>
            <a:spLocks noGrp="1"/>
          </p:cNvSpPr>
          <p:nvPr/>
        </p:nvSpPr>
        <p:spPr>
          <a:xfrm>
            <a:off x="723900" y="5943600"/>
            <a:ext cx="106680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Le parent &lt;main&gt; regroupe les éléments retournés.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42F826BE-E56E-4685-BAF9-9DD7D9951044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4675667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C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">
            <a:extLst>
              <a:ext uri="{FF2B5EF4-FFF2-40B4-BE49-F238E27FC236}">
                <a16:creationId xmlns:a16="http://schemas.microsoft.com/office/drawing/2014/main" id="{61FEFF9C-DD9C-48DC-BE1E-54743B37BA9B}"/>
              </a:ext>
            </a:extLst>
          </p:cNvPr>
          <p:cNvSpPr>
            <a:spLocks noGrp="1"/>
          </p:cNvSpPr>
          <p:nvPr/>
        </p:nvSpPr>
        <p:spPr>
          <a:xfrm>
            <a:off x="762000" y="1762125"/>
            <a:ext cx="10477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Pause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0F4A6D7B-1668-4508-87AE-49683615D81A}"/>
              </a:ext>
            </a:extLst>
          </p:cNvPr>
          <p:cNvSpPr>
            <a:spLocks noGrp="1"/>
          </p:cNvSpPr>
          <p:nvPr/>
        </p:nvSpPr>
        <p:spPr>
          <a:xfrm>
            <a:off x="800100" y="3124200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BDEFE2"/>
                </a:solidFill>
                <a:latin typeface="Arial"/>
                <a:ea typeface="Arial"/>
                <a:cs typeface="Arial"/>
              </a:rPr>
              <a:t>5 minutes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F8E1A5FC-80C3-4C70-9BA8-A96896D2D58F}"/>
              </a:ext>
            </a:extLst>
          </p:cNvPr>
          <p:cNvSpPr>
            <a:spLocks noGrp="1"/>
          </p:cNvSpPr>
          <p:nvPr/>
        </p:nvSpPr>
        <p:spPr>
          <a:xfrm>
            <a:off x="800100" y="4667250"/>
            <a:ext cx="10477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À la reprise : les données JavaScript dans le JSX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CA233659-8D0A-4567-B54A-0DA42E3E9DCA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EFE2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6448146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">
            <a:extLst>
              <a:ext uri="{FF2B5EF4-FFF2-40B4-BE49-F238E27FC236}">
                <a16:creationId xmlns:a16="http://schemas.microsoft.com/office/drawing/2014/main" id="{979724A1-B298-403B-A669-576EA12B26C5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382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COURS · SÉANCE 1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448FA34A-9B90-4EF7-8FC7-8A15ED46DD7F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Les règles essentielles du JSX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01876086-AA31-4C23-A9B2-2910256B442F}"/>
              </a:ext>
            </a:extLst>
          </p:cNvPr>
          <p:cNvSpPr>
            <a:spLocks noGrp="1"/>
          </p:cNvSpPr>
          <p:nvPr/>
        </p:nvSpPr>
        <p:spPr>
          <a:xfrm>
            <a:off x="723900" y="2000250"/>
            <a:ext cx="72390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Regrouper les éléments avec un parent ou un fragment &lt;&gt;...&lt;/&gt;.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690F7B93-05B8-4FF1-ACD0-A75149643298}"/>
              </a:ext>
            </a:extLst>
          </p:cNvPr>
          <p:cNvSpPr>
            <a:spLocks noGrp="1"/>
          </p:cNvSpPr>
          <p:nvPr/>
        </p:nvSpPr>
        <p:spPr>
          <a:xfrm>
            <a:off x="723900" y="2971800"/>
            <a:ext cx="72390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Fermer les balises, y compris &lt;br /&gt; et &lt;img /&gt;.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3ECADF0A-DF42-4E33-AB27-F3D2806A6526}"/>
              </a:ext>
            </a:extLst>
          </p:cNvPr>
          <p:cNvSpPr>
            <a:spLocks noGrp="1"/>
          </p:cNvSpPr>
          <p:nvPr/>
        </p:nvSpPr>
        <p:spPr>
          <a:xfrm>
            <a:off x="723900" y="3943350"/>
            <a:ext cx="72390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Écrire className pour une classe CSS.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C995C561-1B4D-4A66-AB0F-B7015B36909E}"/>
              </a:ext>
            </a:extLst>
          </p:cNvPr>
          <p:cNvSpPr>
            <a:spLocks noGrp="1"/>
          </p:cNvSpPr>
          <p:nvPr/>
        </p:nvSpPr>
        <p:spPr>
          <a:xfrm>
            <a:off x="723900" y="4914900"/>
            <a:ext cx="72390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Respecter l’imbrication des balises.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992C402A-87FE-4D0D-AD08-6A45203FAE09}"/>
              </a:ext>
            </a:extLst>
          </p:cNvPr>
          <p:cNvSpPr>
            <a:spLocks noGrp="1"/>
          </p:cNvSpPr>
          <p:nvPr/>
        </p:nvSpPr>
        <p:spPr>
          <a:xfrm>
            <a:off x="8477250" y="2000250"/>
            <a:ext cx="3000375" cy="3905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87F75"/>
                </a:solidFill>
                <a:latin typeface="Arial"/>
                <a:ea typeface="Arial"/>
                <a:cs typeface="Arial"/>
              </a:rPr>
              <a:t>JSX ressemble à HTML.</a:t>
            </a:r>
          </a:p>
          <a:p>
            <a:endParaRPr sz="1950" b="0">
              <a:solidFill>
                <a:srgbClr val="087F75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87F75"/>
                </a:solidFill>
                <a:latin typeface="Arial"/>
                <a:ea typeface="Arial"/>
                <a:cs typeface="Arial"/>
              </a:rPr>
              <a:t>L’outil de développement le transforme en JavaScript.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D866C4D4-F5F1-4D5A-911A-6B9D4E91000F}"/>
              </a:ext>
            </a:extLst>
          </p:cNvPr>
          <p:cNvSpPr>
            <a:spLocks noGrp="1"/>
          </p:cNvSpPr>
          <p:nvPr/>
        </p:nvSpPr>
        <p:spPr>
          <a:xfrm>
            <a:off x="723900" y="5943600"/>
            <a:ext cx="106680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Une expression JavaScript peut s’insérer dans le JSX avec des accolades.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B65FC6C4-643D-44B3-8E4E-6BE55AEB2B87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3607754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">
            <a:extLst>
              <a:ext uri="{FF2B5EF4-FFF2-40B4-BE49-F238E27FC236}">
                <a16:creationId xmlns:a16="http://schemas.microsoft.com/office/drawing/2014/main" id="{87A23486-4EA2-471D-90C7-D304FA9EADD5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382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COURS · SÉANCE 1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1AA784A5-0411-4A8B-ABEF-9EFED20979A5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Les accolades affichent une expression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2A1F8C48-E1F4-4B0C-9512-2E91DB2312F6}"/>
              </a:ext>
            </a:extLst>
          </p:cNvPr>
          <p:cNvSpPr>
            <a:spLocks noGrp="1"/>
          </p:cNvSpPr>
          <p:nvPr/>
        </p:nvSpPr>
        <p:spPr>
          <a:xfrm>
            <a:off x="723900" y="1943100"/>
            <a:ext cx="7239000" cy="1066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&lt;h2&gt;{</a:t>
            </a:r>
            <a:r>
              <a:rPr lang="fr-FR" sz="2025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local</a:t>
            </a: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.nom}&lt;/h2&gt;</a:t>
            </a: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&lt;p&gt;{</a:t>
            </a:r>
            <a:r>
              <a:rPr lang="fr-FR" sz="2025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local</a:t>
            </a: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2025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capacite</a:t>
            </a: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} </a:t>
            </a:r>
            <a:r>
              <a:rPr sz="2025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personnes</a:t>
            </a: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&lt;/p&gt;</a:t>
            </a: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&lt;p&gt;{</a:t>
            </a:r>
            <a:r>
              <a:rPr lang="fr-FR" sz="2025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local</a:t>
            </a: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2025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prixHeure</a:t>
            </a: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* 2} DH pour 2 h&lt;/p&gt;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44A86B5E-8871-4233-B1A7-D092BC3C8C18}"/>
              </a:ext>
            </a:extLst>
          </p:cNvPr>
          <p:cNvSpPr>
            <a:spLocks noGrp="1"/>
          </p:cNvSpPr>
          <p:nvPr/>
        </p:nvSpPr>
        <p:spPr>
          <a:xfrm>
            <a:off x="8439150" y="1933575"/>
            <a:ext cx="3048000" cy="409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Sans accolades</a:t>
            </a:r>
          </a:p>
          <a:p>
            <a:pPr>
              <a:defRPr sz="187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&lt;p&gt;</a:t>
            </a:r>
            <a:r>
              <a:rPr lang="fr-FR" sz="1875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local</a:t>
            </a:r>
            <a:r>
              <a:rPr sz="1875" b="0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.nom&lt;/p&gt;</a:t>
            </a:r>
          </a:p>
          <a:p>
            <a:pPr>
              <a:defRPr sz="187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Affiche : </a:t>
            </a:r>
            <a:r>
              <a:rPr lang="fr-FR" sz="1875" b="0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local</a:t>
            </a:r>
            <a:r>
              <a:rPr sz="1875" b="0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.nom</a:t>
            </a:r>
          </a:p>
          <a:p>
            <a:endParaRPr sz="1875" b="0" dirty="0">
              <a:solidFill>
                <a:srgbClr val="102C38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Avec accolades</a:t>
            </a:r>
          </a:p>
          <a:p>
            <a:pPr>
              <a:defRPr sz="187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&lt;p&gt;{</a:t>
            </a:r>
            <a:r>
              <a:rPr lang="fr-FR" sz="1875" b="0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local</a:t>
            </a:r>
            <a:r>
              <a:rPr sz="1875" b="0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.nom}&lt;/p&gt;</a:t>
            </a:r>
          </a:p>
          <a:p>
            <a:pPr>
              <a:defRPr sz="187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Affiche : Salle Atlas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A362CF07-6996-49FA-8447-B2DC1F1FE192}"/>
              </a:ext>
            </a:extLst>
          </p:cNvPr>
          <p:cNvSpPr>
            <a:spLocks noGrp="1"/>
          </p:cNvSpPr>
          <p:nvPr/>
        </p:nvSpPr>
        <p:spPr>
          <a:xfrm>
            <a:off x="723900" y="5943600"/>
            <a:ext cx="106680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Une expression produit une valeur. Une instruction if ne s’insère pas directement entre les balises.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5A3AE38C-6F6E-4A38-AFD3-82D5E0F07253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3349113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">
            <a:extLst>
              <a:ext uri="{FF2B5EF4-FFF2-40B4-BE49-F238E27FC236}">
                <a16:creationId xmlns:a16="http://schemas.microsoft.com/office/drawing/2014/main" id="{88BDA890-69ED-4FD1-A608-F4F7AADDD43A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382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 dirty="0">
                <a:solidFill>
                  <a:srgbClr val="087F75"/>
                </a:solidFill>
                <a:latin typeface="Arial"/>
                <a:ea typeface="Arial"/>
                <a:cs typeface="Arial"/>
              </a:rPr>
              <a:t>EXERCICE 4 · 6 MI</a:t>
            </a:r>
            <a:r>
              <a:rPr lang="fr-FR" sz="1350" b="1" dirty="0">
                <a:solidFill>
                  <a:srgbClr val="087F75"/>
                </a:solidFill>
                <a:latin typeface="Arial"/>
                <a:ea typeface="Arial"/>
                <a:cs typeface="Arial"/>
              </a:rPr>
              <a:t>N</a:t>
            </a:r>
            <a:endParaRPr sz="1350" b="1" dirty="0">
              <a:solidFill>
                <a:srgbClr val="087F7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9958477B-7D0C-441D-AA71-C521EDAF7363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HTML copié dans React : les erreurs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D3140C21-93F7-49FE-8882-E2768F1AAFC0}"/>
              </a:ext>
            </a:extLst>
          </p:cNvPr>
          <p:cNvSpPr>
            <a:spLocks noGrp="1"/>
          </p:cNvSpPr>
          <p:nvPr/>
        </p:nvSpPr>
        <p:spPr>
          <a:xfrm>
            <a:off x="723900" y="1943100"/>
            <a:ext cx="7239000" cy="1714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return (</a:t>
            </a: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&lt;h2 class="</a:t>
            </a:r>
            <a:r>
              <a:rPr sz="2025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titre</a:t>
            </a: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"&gt;</a:t>
            </a:r>
            <a:r>
              <a:rPr lang="fr-FR" sz="2025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local</a:t>
            </a: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.nom&lt;/h2&gt;</a:t>
            </a: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&lt;p&gt;</a:t>
            </a:r>
            <a:r>
              <a:rPr sz="2025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Capacité</a:t>
            </a: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: {</a:t>
            </a:r>
            <a:r>
              <a:rPr lang="fr-FR" sz="2025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local</a:t>
            </a: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2025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capacite</a:t>
            </a: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}&lt;/p&gt;</a:t>
            </a: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&lt;</a:t>
            </a:r>
            <a:r>
              <a:rPr sz="2025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br</a:t>
            </a: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);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3D5CFD4B-A7AD-495D-AFC5-6F7D3117CC7F}"/>
              </a:ext>
            </a:extLst>
          </p:cNvPr>
          <p:cNvSpPr>
            <a:spLocks noGrp="1"/>
          </p:cNvSpPr>
          <p:nvPr/>
        </p:nvSpPr>
        <p:spPr>
          <a:xfrm>
            <a:off x="8439150" y="1933575"/>
            <a:ext cx="3048000" cy="409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Corriger pour obtenir :</a:t>
            </a:r>
          </a:p>
          <a:p>
            <a:endParaRPr sz="1875" b="0">
              <a:solidFill>
                <a:srgbClr val="102C38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Un parent commun.</a:t>
            </a:r>
          </a:p>
          <a:p>
            <a:endParaRPr sz="1875" b="0">
              <a:solidFill>
                <a:srgbClr val="102C38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La classe CSS titre.</a:t>
            </a:r>
          </a:p>
          <a:p>
            <a:endParaRPr sz="1875" b="0">
              <a:solidFill>
                <a:srgbClr val="102C38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Le nom issu de l’objet.</a:t>
            </a:r>
          </a:p>
          <a:p>
            <a:endParaRPr sz="1875" b="0">
              <a:solidFill>
                <a:srgbClr val="102C38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Une balise br fermée.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8B3B91AC-A1C4-471C-BC49-FE4574C28CDF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4797527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">
            <a:extLst>
              <a:ext uri="{FF2B5EF4-FFF2-40B4-BE49-F238E27FC236}">
                <a16:creationId xmlns:a16="http://schemas.microsoft.com/office/drawing/2014/main" id="{FA662521-DEB0-4FBE-8971-A136B8293D41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382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CORRIGÉ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B728D4F1-0B9A-47FC-B293-543A7995F491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Une version JSX correcte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E6910CAD-A05F-4955-9F32-33209B497F16}"/>
              </a:ext>
            </a:extLst>
          </p:cNvPr>
          <p:cNvSpPr>
            <a:spLocks noGrp="1"/>
          </p:cNvSpPr>
          <p:nvPr/>
        </p:nvSpPr>
        <p:spPr>
          <a:xfrm>
            <a:off x="723900" y="1943100"/>
            <a:ext cx="10668000" cy="236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return (</a:t>
            </a: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&lt;&gt;</a:t>
            </a: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  &lt;h2 </a:t>
            </a:r>
            <a:r>
              <a:rPr sz="2025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className</a:t>
            </a: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="</a:t>
            </a:r>
            <a:r>
              <a:rPr sz="2025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titre</a:t>
            </a: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"&gt;{</a:t>
            </a:r>
            <a:r>
              <a:rPr lang="fr-FR" sz="2025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local</a:t>
            </a: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.nom}&lt;/h2&gt;</a:t>
            </a: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  &lt;p&gt;</a:t>
            </a:r>
            <a:r>
              <a:rPr sz="2025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Capacité</a:t>
            </a: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: {</a:t>
            </a:r>
            <a:r>
              <a:rPr lang="fr-FR" sz="2025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local</a:t>
            </a: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2025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capacite</a:t>
            </a: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}&lt;/p&gt;</a:t>
            </a: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  &lt;</a:t>
            </a:r>
            <a:r>
              <a:rPr sz="2025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br</a:t>
            </a: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/&gt;</a:t>
            </a: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&lt;/&gt;</a:t>
            </a: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);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9E5ACC9F-9C2A-4CA4-AC85-1EB6FD19A58C}"/>
              </a:ext>
            </a:extLst>
          </p:cNvPr>
          <p:cNvSpPr>
            <a:spLocks noGrp="1"/>
          </p:cNvSpPr>
          <p:nvPr/>
        </p:nvSpPr>
        <p:spPr>
          <a:xfrm>
            <a:off x="723900" y="5943600"/>
            <a:ext cx="106680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Le fragment &lt;&gt;...&lt;/&gt; regroupe les éléments sans ajouter de balise HTML.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735B4A16-9AFA-40CF-A7EA-6A67E2FA844A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0470914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">
            <a:extLst>
              <a:ext uri="{FF2B5EF4-FFF2-40B4-BE49-F238E27FC236}">
                <a16:creationId xmlns:a16="http://schemas.microsoft.com/office/drawing/2014/main" id="{35FE777A-3339-4390-876E-ABC1CA536812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382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COURS · SÉANCE 1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641E414D-7B8A-4DE5-B376-CD1F8C308DFA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Un statut dépend d’une condition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CECDAC4F-5F90-41F0-B523-77C4478BA6E8}"/>
              </a:ext>
            </a:extLst>
          </p:cNvPr>
          <p:cNvSpPr>
            <a:spLocks noGrp="1"/>
          </p:cNvSpPr>
          <p:nvPr/>
        </p:nvSpPr>
        <p:spPr>
          <a:xfrm>
            <a:off x="723900" y="1943100"/>
            <a:ext cx="7239000" cy="236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condition ? </a:t>
            </a:r>
            <a:r>
              <a:rPr sz="2025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valeurSiVrai</a:t>
            </a: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: </a:t>
            </a:r>
            <a:r>
              <a:rPr sz="2025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valeurSiFaux</a:t>
            </a:r>
            <a:endParaRPr sz="2025" b="0" dirty="0">
              <a:solidFill>
                <a:srgbClr val="087F75"/>
              </a:solidFill>
              <a:latin typeface="Consolas"/>
              <a:ea typeface="Consolas"/>
              <a:cs typeface="Consolas"/>
            </a:endParaRPr>
          </a:p>
          <a:p>
            <a:endParaRPr sz="2025" b="0" dirty="0">
              <a:solidFill>
                <a:srgbClr val="087F75"/>
              </a:solidFill>
              <a:latin typeface="Consolas"/>
              <a:ea typeface="Consolas"/>
              <a:cs typeface="Consolas"/>
            </a:endParaRP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&lt;p&gt;</a:t>
            </a: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{</a:t>
            </a:r>
            <a:r>
              <a:rPr lang="fr-FR" sz="2025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local</a:t>
            </a: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.disponible</a:t>
            </a: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  ? "Disponible"</a:t>
            </a: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  : "</a:t>
            </a:r>
            <a:r>
              <a:rPr sz="2025" b="0" dirty="0" err="1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Indisponible</a:t>
            </a: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"}</a:t>
            </a: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&lt;/p&gt;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98EF8D66-4EE0-41AE-976A-D6EDF64E868D}"/>
              </a:ext>
            </a:extLst>
          </p:cNvPr>
          <p:cNvSpPr>
            <a:spLocks noGrp="1"/>
          </p:cNvSpPr>
          <p:nvPr/>
        </p:nvSpPr>
        <p:spPr>
          <a:xfrm>
            <a:off x="8439150" y="1933575"/>
            <a:ext cx="3048000" cy="409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disponible vaut true</a:t>
            </a:r>
          </a:p>
          <a:p>
            <a:pPr>
              <a:defRPr sz="187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Affiche : Disponible</a:t>
            </a:r>
          </a:p>
          <a:p>
            <a:endParaRPr sz="1875" b="0">
              <a:solidFill>
                <a:srgbClr val="102C38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disponible vaut false</a:t>
            </a:r>
          </a:p>
          <a:p>
            <a:pPr>
              <a:defRPr sz="187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Affiche : Indisponible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1C48846F-6E59-475B-AE84-35979B6F6EAD}"/>
              </a:ext>
            </a:extLst>
          </p:cNvPr>
          <p:cNvSpPr>
            <a:spLocks noGrp="1"/>
          </p:cNvSpPr>
          <p:nvPr/>
        </p:nvSpPr>
        <p:spPr>
          <a:xfrm>
            <a:off x="723900" y="5943600"/>
            <a:ext cx="106680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Le ternaire est une expression JavaScript utilisable entre accolades.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3A9F5A79-E015-46A8-890F-6C83AA6D051D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6123201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">
            <a:extLst>
              <a:ext uri="{FF2B5EF4-FFF2-40B4-BE49-F238E27FC236}">
                <a16:creationId xmlns:a16="http://schemas.microsoft.com/office/drawing/2014/main" id="{BA4FF7F8-7C12-4C6B-BB87-B2709BF70DE1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382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 dirty="0">
                <a:solidFill>
                  <a:srgbClr val="087F75"/>
                </a:solidFill>
                <a:latin typeface="Arial"/>
                <a:ea typeface="Arial"/>
                <a:cs typeface="Arial"/>
              </a:rPr>
              <a:t>EXERCICE 5 · 3 MIN</a:t>
            </a:r>
            <a:endParaRPr lang="fr-FR" sz="1350" b="1" dirty="0">
              <a:solidFill>
                <a:srgbClr val="087F7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4A57C4E7-44EB-44EE-892C-4D4B4AD57154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Le résultat avant l’exécution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79331DAC-6297-4519-857B-149A3AA9FBA2}"/>
              </a:ext>
            </a:extLst>
          </p:cNvPr>
          <p:cNvSpPr>
            <a:spLocks noGrp="1"/>
          </p:cNvSpPr>
          <p:nvPr/>
        </p:nvSpPr>
        <p:spPr>
          <a:xfrm>
            <a:off x="723900" y="1943100"/>
            <a:ext cx="10668000" cy="1066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const disponible = false;</a:t>
            </a:r>
          </a:p>
          <a:p>
            <a:endParaRPr sz="2025" b="0">
              <a:solidFill>
                <a:srgbClr val="087F75"/>
              </a:solidFill>
              <a:latin typeface="Consolas"/>
              <a:ea typeface="Consolas"/>
              <a:cs typeface="Consolas"/>
            </a:endParaRP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&lt;p&gt;{disponible ? "Libre" : "Occupé"}&lt;/p&gt;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A87FCDB0-50F9-4153-A07D-C6E654107BB0}"/>
              </a:ext>
            </a:extLst>
          </p:cNvPr>
          <p:cNvSpPr>
            <a:spLocks noGrp="1"/>
          </p:cNvSpPr>
          <p:nvPr/>
        </p:nvSpPr>
        <p:spPr>
          <a:xfrm>
            <a:off x="723900" y="3124200"/>
            <a:ext cx="105727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1. Quel texte apparaît ?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C3C59E43-2B71-4FD0-BB9E-15FB1A469FA9}"/>
              </a:ext>
            </a:extLst>
          </p:cNvPr>
          <p:cNvSpPr>
            <a:spLocks noGrp="1"/>
          </p:cNvSpPr>
          <p:nvPr/>
        </p:nvSpPr>
        <p:spPr>
          <a:xfrm>
            <a:off x="723900" y="3743325"/>
            <a:ext cx="105727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2. Que faut-il changer pour afficher « Libre » ?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E0E497D0-A6CA-4F43-9B71-D32F415754D6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8210366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">
            <a:extLst>
              <a:ext uri="{FF2B5EF4-FFF2-40B4-BE49-F238E27FC236}">
                <a16:creationId xmlns:a16="http://schemas.microsoft.com/office/drawing/2014/main" id="{999157FD-DCAD-4CF7-AA87-D9E8A5CF874D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382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 dirty="0">
                <a:solidFill>
                  <a:srgbClr val="087F75"/>
                </a:solidFill>
                <a:latin typeface="Arial"/>
                <a:ea typeface="Arial"/>
                <a:cs typeface="Arial"/>
              </a:rPr>
              <a:t>ATELIER · 15 MIN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600BD3FE-D937-4C71-90DC-9F0FEBE7A553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TP : une fiche de local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BD8616FD-5884-41B4-B190-B75631A51845}"/>
              </a:ext>
            </a:extLst>
          </p:cNvPr>
          <p:cNvSpPr>
            <a:spLocks noGrp="1"/>
          </p:cNvSpPr>
          <p:nvPr/>
        </p:nvSpPr>
        <p:spPr>
          <a:xfrm>
            <a:off x="723900" y="2000250"/>
            <a:ext cx="7239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Afficher le titre « Réserver un local ».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E136FDD8-A24F-48F0-8F03-738A62611E3F}"/>
              </a:ext>
            </a:extLst>
          </p:cNvPr>
          <p:cNvSpPr>
            <a:spLocks noGrp="1"/>
          </p:cNvSpPr>
          <p:nvPr/>
        </p:nvSpPr>
        <p:spPr>
          <a:xfrm>
            <a:off x="723900" y="2695575"/>
            <a:ext cx="7239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Afficher nom, capacité et tarif horaire depuis local.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589EB77E-3EB8-4AED-8E2B-5BF868C20EB1}"/>
              </a:ext>
            </a:extLst>
          </p:cNvPr>
          <p:cNvSpPr>
            <a:spLocks noGrp="1"/>
          </p:cNvSpPr>
          <p:nvPr/>
        </p:nvSpPr>
        <p:spPr>
          <a:xfrm>
            <a:off x="723900" y="3390900"/>
            <a:ext cx="7239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Calculer le prix pour 3 heures avec calculerPrix.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8AB72C58-37A2-4E81-B54C-1EC9F436DF2A}"/>
              </a:ext>
            </a:extLst>
          </p:cNvPr>
          <p:cNvSpPr>
            <a:spLocks noGrp="1"/>
          </p:cNvSpPr>
          <p:nvPr/>
        </p:nvSpPr>
        <p:spPr>
          <a:xfrm>
            <a:off x="723900" y="4086225"/>
            <a:ext cx="7239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Afficher Disponible ou Indisponible avec un ternaire.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D948163D-642B-46BA-8E0F-8929C8DCCC79}"/>
              </a:ext>
            </a:extLst>
          </p:cNvPr>
          <p:cNvSpPr>
            <a:spLocks noGrp="1"/>
          </p:cNvSpPr>
          <p:nvPr/>
        </p:nvSpPr>
        <p:spPr>
          <a:xfrm>
            <a:off x="723900" y="4781550"/>
            <a:ext cx="7239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Appliquer les classes CSS déjà fournies.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3C8D9742-5FD7-4982-947E-2E171ED6C31F}"/>
              </a:ext>
            </a:extLst>
          </p:cNvPr>
          <p:cNvSpPr>
            <a:spLocks noGrp="1"/>
          </p:cNvSpPr>
          <p:nvPr/>
        </p:nvSpPr>
        <p:spPr>
          <a:xfrm>
            <a:off x="8477250" y="2000250"/>
            <a:ext cx="3000375" cy="3905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87F75"/>
                </a:solidFill>
                <a:latin typeface="Arial"/>
                <a:ea typeface="Arial"/>
                <a:cs typeface="Arial"/>
              </a:rPr>
              <a:t>Fichiers à modifier</a:t>
            </a:r>
          </a:p>
          <a:p>
            <a:pPr>
              <a:defRPr sz="1950" b="0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87F75"/>
                </a:solidFill>
                <a:latin typeface="Arial"/>
                <a:ea typeface="Arial"/>
                <a:cs typeface="Arial"/>
              </a:rPr>
              <a:t>src/App.jsx</a:t>
            </a:r>
          </a:p>
          <a:p>
            <a:endParaRPr sz="1950" b="0">
              <a:solidFill>
                <a:srgbClr val="087F75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87F75"/>
                </a:solidFill>
                <a:latin typeface="Arial"/>
                <a:ea typeface="Arial"/>
                <a:cs typeface="Arial"/>
              </a:rPr>
              <a:t>Données</a:t>
            </a:r>
          </a:p>
          <a:p>
            <a:pPr>
              <a:defRPr sz="1950" b="0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87F75"/>
                </a:solidFill>
                <a:latin typeface="Arial"/>
                <a:ea typeface="Arial"/>
                <a:cs typeface="Arial"/>
              </a:rPr>
              <a:t>src/local.js</a:t>
            </a:r>
          </a:p>
          <a:p>
            <a:endParaRPr sz="1950" b="0">
              <a:solidFill>
                <a:srgbClr val="087F75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87F75"/>
                </a:solidFill>
                <a:latin typeface="Arial"/>
                <a:ea typeface="Arial"/>
                <a:cs typeface="Arial"/>
              </a:rPr>
              <a:t>Calcul</a:t>
            </a:r>
          </a:p>
          <a:p>
            <a:pPr>
              <a:defRPr sz="1950" b="0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87F75"/>
                </a:solidFill>
                <a:latin typeface="Arial"/>
                <a:ea typeface="Arial"/>
                <a:cs typeface="Arial"/>
              </a:rPr>
              <a:t>src/calculs.js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BF3C33AD-5A55-48E4-BEA4-2D3C9C8B1DD9}"/>
              </a:ext>
            </a:extLst>
          </p:cNvPr>
          <p:cNvSpPr>
            <a:spLocks noGrp="1"/>
          </p:cNvSpPr>
          <p:nvPr/>
        </p:nvSpPr>
        <p:spPr>
          <a:xfrm>
            <a:off x="723900" y="5943600"/>
            <a:ext cx="106680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500" b="0" dirty="0" err="1">
                <a:solidFill>
                  <a:srgbClr val="4E6670"/>
                </a:solidFill>
                <a:latin typeface="Arial"/>
                <a:ea typeface="Arial"/>
                <a:cs typeface="Arial"/>
              </a:rPr>
              <a:t>Résultat</a:t>
            </a:r>
            <a:r>
              <a:rPr sz="1500" b="0" dirty="0">
                <a:solidFill>
                  <a:srgbClr val="4E6670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E6670"/>
                </a:solidFill>
                <a:latin typeface="Arial"/>
                <a:ea typeface="Arial"/>
                <a:cs typeface="Arial"/>
              </a:rPr>
              <a:t>attendu</a:t>
            </a:r>
            <a:r>
              <a:rPr sz="1500" b="0" dirty="0">
                <a:solidFill>
                  <a:srgbClr val="4E6670"/>
                </a:solidFill>
                <a:latin typeface="Arial"/>
                <a:ea typeface="Arial"/>
                <a:cs typeface="Arial"/>
              </a:rPr>
              <a:t> : Salle Atlas, 40 </a:t>
            </a:r>
            <a:r>
              <a:rPr sz="1500" b="0" dirty="0" err="1">
                <a:solidFill>
                  <a:srgbClr val="4E6670"/>
                </a:solidFill>
                <a:latin typeface="Arial"/>
                <a:ea typeface="Arial"/>
                <a:cs typeface="Arial"/>
              </a:rPr>
              <a:t>personnes</a:t>
            </a:r>
            <a:r>
              <a:rPr sz="1500" b="0" dirty="0">
                <a:solidFill>
                  <a:srgbClr val="4E6670"/>
                </a:solidFill>
                <a:latin typeface="Arial"/>
                <a:ea typeface="Arial"/>
                <a:cs typeface="Arial"/>
              </a:rPr>
              <a:t>, 150 DH / h, 450 DH pour 3 h, Disponible.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78B96C9B-F733-4EBC-98B5-7377A8D16F34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6294940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">
            <a:extLst>
              <a:ext uri="{FF2B5EF4-FFF2-40B4-BE49-F238E27FC236}">
                <a16:creationId xmlns:a16="http://schemas.microsoft.com/office/drawing/2014/main" id="{556EA386-A346-49EA-8C1F-A0E6E0FA37E4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382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VÉRIFICATION CROISÉE · 3 MIN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DD12DEA8-AEEA-44D0-99EF-480C37E44D45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La fiche passe cinq vérifications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4BADC33C-6DDB-4CC2-9A78-24466A4E9751}"/>
              </a:ext>
            </a:extLst>
          </p:cNvPr>
          <p:cNvSpPr>
            <a:spLocks noGrp="1"/>
          </p:cNvSpPr>
          <p:nvPr/>
        </p:nvSpPr>
        <p:spPr>
          <a:xfrm>
            <a:off x="723900" y="2000250"/>
            <a:ext cx="107632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Le nom vient de local.nom.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80A7012C-D363-4C82-BB87-D6C65EDC1F10}"/>
              </a:ext>
            </a:extLst>
          </p:cNvPr>
          <p:cNvSpPr>
            <a:spLocks noGrp="1"/>
          </p:cNvSpPr>
          <p:nvPr/>
        </p:nvSpPr>
        <p:spPr>
          <a:xfrm>
            <a:off x="723900" y="2695575"/>
            <a:ext cx="107632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Le prix pour 3 h utilise la fonction de calcul.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64359BBC-F1D3-4EDD-9285-371DC55F9207}"/>
              </a:ext>
            </a:extLst>
          </p:cNvPr>
          <p:cNvSpPr>
            <a:spLocks noGrp="1"/>
          </p:cNvSpPr>
          <p:nvPr/>
        </p:nvSpPr>
        <p:spPr>
          <a:xfrm>
            <a:off x="723900" y="3390900"/>
            <a:ext cx="107632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Le statut dépend du booléen disponible.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CD72903E-1AEE-4C33-AFDE-9B3A4A5C7D41}"/>
              </a:ext>
            </a:extLst>
          </p:cNvPr>
          <p:cNvSpPr>
            <a:spLocks noGrp="1"/>
          </p:cNvSpPr>
          <p:nvPr/>
        </p:nvSpPr>
        <p:spPr>
          <a:xfrm>
            <a:off x="723900" y="4086225"/>
            <a:ext cx="107632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Le JSX respecte ses règles de syntaxe.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EF978B18-A53B-4326-8FAE-7BC692E09DBA}"/>
              </a:ext>
            </a:extLst>
          </p:cNvPr>
          <p:cNvSpPr>
            <a:spLocks noGrp="1"/>
          </p:cNvSpPr>
          <p:nvPr/>
        </p:nvSpPr>
        <p:spPr>
          <a:xfrm>
            <a:off x="723900" y="4781550"/>
            <a:ext cx="107632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L’autre personne du binôme explique chaque expression.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7C255392-A634-4B5C-BDA4-A8D8B51B8E30}"/>
              </a:ext>
            </a:extLst>
          </p:cNvPr>
          <p:cNvSpPr>
            <a:spLocks noGrp="1"/>
          </p:cNvSpPr>
          <p:nvPr/>
        </p:nvSpPr>
        <p:spPr>
          <a:xfrm>
            <a:off x="723900" y="5943600"/>
            <a:ext cx="106680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Test : prixHeure = 200 donne 600 DH pour 3 h. disponible = false donne Indisponible.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CD303665-9817-406B-AD0A-4B7CB2E097AD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3577751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">
            <a:extLst>
              <a:ext uri="{FF2B5EF4-FFF2-40B4-BE49-F238E27FC236}">
                <a16:creationId xmlns:a16="http://schemas.microsoft.com/office/drawing/2014/main" id="{4C69E544-93AF-4A30-B7C4-8BD77DE664D4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382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 dirty="0">
                <a:solidFill>
                  <a:srgbClr val="087F75"/>
                </a:solidFill>
                <a:latin typeface="Arial"/>
                <a:ea typeface="Arial"/>
                <a:cs typeface="Arial"/>
              </a:rPr>
              <a:t>CORRIGÉ · </a:t>
            </a:r>
            <a:r>
              <a:rPr sz="1350" b="1" dirty="0" err="1">
                <a:solidFill>
                  <a:srgbClr val="087F75"/>
                </a:solidFill>
                <a:latin typeface="Arial"/>
                <a:ea typeface="Arial"/>
                <a:cs typeface="Arial"/>
              </a:rPr>
              <a:t>src</a:t>
            </a:r>
            <a:r>
              <a:rPr sz="1350" b="1" dirty="0">
                <a:solidFill>
                  <a:srgbClr val="087F75"/>
                </a:solidFill>
                <a:latin typeface="Arial"/>
                <a:ea typeface="Arial"/>
                <a:cs typeface="Arial"/>
              </a:rPr>
              <a:t>/</a:t>
            </a:r>
            <a:r>
              <a:rPr sz="1350" b="1" dirty="0" err="1">
                <a:solidFill>
                  <a:srgbClr val="087F75"/>
                </a:solidFill>
                <a:latin typeface="Arial"/>
                <a:ea typeface="Arial"/>
                <a:cs typeface="Arial"/>
              </a:rPr>
              <a:t>App.jsx</a:t>
            </a:r>
            <a:endParaRPr sz="1350" b="1" dirty="0">
              <a:solidFill>
                <a:srgbClr val="087F7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1EFF49A7-48D5-470B-A2C9-6574D713457B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225" b="1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TP : le </a:t>
            </a:r>
            <a:r>
              <a:rPr sz="3225" b="1" dirty="0" err="1">
                <a:solidFill>
                  <a:srgbClr val="102C38"/>
                </a:solidFill>
                <a:latin typeface="Arial"/>
                <a:ea typeface="Arial"/>
                <a:cs typeface="Arial"/>
              </a:rPr>
              <a:t>composant</a:t>
            </a:r>
            <a:r>
              <a:rPr sz="3225" b="1" dirty="0">
                <a:solidFill>
                  <a:srgbClr val="102C38"/>
                </a:solidFill>
                <a:latin typeface="Arial"/>
                <a:ea typeface="Arial"/>
                <a:cs typeface="Arial"/>
              </a:rPr>
              <a:t> </a:t>
            </a:r>
            <a:r>
              <a:rPr sz="3225" b="1" dirty="0" err="1">
                <a:solidFill>
                  <a:srgbClr val="102C38"/>
                </a:solidFill>
                <a:latin typeface="Arial"/>
                <a:ea typeface="Arial"/>
                <a:cs typeface="Arial"/>
              </a:rPr>
              <a:t>corrigé</a:t>
            </a:r>
            <a:endParaRPr sz="3225" b="1" dirty="0">
              <a:solidFill>
                <a:srgbClr val="102C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D4CFEAA1-B411-4E2E-B7DE-C08D9F38A43E}"/>
              </a:ext>
            </a:extLst>
          </p:cNvPr>
          <p:cNvSpPr>
            <a:spLocks noGrp="1"/>
          </p:cNvSpPr>
          <p:nvPr/>
        </p:nvSpPr>
        <p:spPr>
          <a:xfrm>
            <a:off x="723900" y="1943100"/>
            <a:ext cx="10668000" cy="444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0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defRPr sz="180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import { local } from "./local.js";</a:t>
            </a:r>
          </a:p>
          <a:p>
            <a:pPr>
              <a:defRPr sz="180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import { calculerPrix } from "./calculs.js";</a:t>
            </a:r>
          </a:p>
          <a:p>
            <a:endParaRPr sz="1800" b="0">
              <a:solidFill>
                <a:srgbClr val="087F75"/>
              </a:solidFill>
              <a:latin typeface="Consolas"/>
              <a:ea typeface="Consolas"/>
              <a:cs typeface="Consolas"/>
            </a:endParaRPr>
          </a:p>
          <a:p>
            <a:pPr>
              <a:defRPr sz="180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export default function App() {</a:t>
            </a:r>
          </a:p>
          <a:p>
            <a:pPr>
              <a:defRPr sz="180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const total = calculerPrix(local.prixHeure, 3);</a:t>
            </a:r>
          </a:p>
          <a:p>
            <a:pPr>
              <a:defRPr sz="180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return (</a:t>
            </a:r>
          </a:p>
          <a:p>
            <a:pPr>
              <a:defRPr sz="180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  &lt;main className="fiche"&gt;</a:t>
            </a:r>
          </a:p>
          <a:p>
            <a:pPr>
              <a:defRPr sz="180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    &lt;h1&gt;Réserver un local&lt;/h1&gt;</a:t>
            </a:r>
          </a:p>
          <a:p>
            <a:pPr>
              <a:defRPr sz="180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    &lt;h2&gt;{local.nom}&lt;/h2&gt;</a:t>
            </a:r>
          </a:p>
          <a:p>
            <a:pPr>
              <a:defRPr sz="180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    &lt;p&gt;{local.capacite} personnes&lt;/p&gt;</a:t>
            </a:r>
          </a:p>
          <a:p>
            <a:pPr>
              <a:defRPr sz="180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    &lt;p&gt;{local.prixHeure} DH / h&lt;/p&gt;</a:t>
            </a:r>
          </a:p>
          <a:p>
            <a:pPr>
              <a:defRPr sz="180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    &lt;p&gt;{total} DH pour 3 h&lt;/p&gt;</a:t>
            </a:r>
          </a:p>
          <a:p>
            <a:pPr>
              <a:defRPr sz="180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    &lt;p&gt;{local.disponible ? "Disponible" : "Indisponible"}&lt;/p&gt;</a:t>
            </a:r>
          </a:p>
          <a:p>
            <a:pPr>
              <a:defRPr sz="180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  &lt;/main&gt;</a:t>
            </a:r>
          </a:p>
          <a:p>
            <a:pPr>
              <a:defRPr sz="180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);</a:t>
            </a:r>
          </a:p>
          <a:p>
            <a:pPr>
              <a:defRPr sz="180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1426C607-3198-4B0E-9EEF-D6D8A86767E2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0616475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">
            <a:extLst>
              <a:ext uri="{FF2B5EF4-FFF2-40B4-BE49-F238E27FC236}">
                <a16:creationId xmlns:a16="http://schemas.microsoft.com/office/drawing/2014/main" id="{241C378D-62FC-4932-92A8-BB98A98BF1B1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382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 dirty="0">
                <a:solidFill>
                  <a:srgbClr val="087F75"/>
                </a:solidFill>
                <a:latin typeface="Arial"/>
                <a:ea typeface="Arial"/>
                <a:cs typeface="Arial"/>
              </a:rPr>
              <a:t>8 MIN · SUR 10 POINTS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3E50F7BE-19AE-433D-8013-9FDE72835941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Mini-contrôle individuel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EA604BF5-D113-4E28-8B07-7C8B286CCD96}"/>
              </a:ext>
            </a:extLst>
          </p:cNvPr>
          <p:cNvSpPr>
            <a:spLocks noGrp="1"/>
          </p:cNvSpPr>
          <p:nvPr/>
        </p:nvSpPr>
        <p:spPr>
          <a:xfrm>
            <a:off x="723900" y="2000250"/>
            <a:ext cx="107632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1. Définir React et citer le rôle d’un composant. (2 pts)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5A5F849D-494A-498B-9466-4C913F3EF499}"/>
              </a:ext>
            </a:extLst>
          </p:cNvPr>
          <p:cNvSpPr>
            <a:spLocks noGrp="1"/>
          </p:cNvSpPr>
          <p:nvPr/>
        </p:nvSpPr>
        <p:spPr>
          <a:xfrm>
            <a:off x="723900" y="2695575"/>
            <a:ext cx="107632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2. Donner une différence entre front-end et back-end. (2 pts)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5009758E-92B6-4DFA-8C94-3BED449F1F49}"/>
              </a:ext>
            </a:extLst>
          </p:cNvPr>
          <p:cNvSpPr>
            <a:spLocks noGrp="1"/>
          </p:cNvSpPr>
          <p:nvPr/>
        </p:nvSpPr>
        <p:spPr>
          <a:xfrm>
            <a:off x="723900" y="3390900"/>
            <a:ext cx="107632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3. Écrire le JSX affichant local.nom dans un h2. (2 pts)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C191423B-17A7-47D5-8D1E-8739FA727ED4}"/>
              </a:ext>
            </a:extLst>
          </p:cNvPr>
          <p:cNvSpPr>
            <a:spLocks noGrp="1"/>
          </p:cNvSpPr>
          <p:nvPr/>
        </p:nvSpPr>
        <p:spPr>
          <a:xfrm>
            <a:off x="723900" y="4086225"/>
            <a:ext cx="107632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4. Corriger : &lt;p class="prix"&gt;{150 * 3} DH&lt;br&gt;&lt;/p&gt; (2 pts)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77CF4A48-F6FE-4C12-BF35-CBAE8FC30D98}"/>
              </a:ext>
            </a:extLst>
          </p:cNvPr>
          <p:cNvSpPr>
            <a:spLocks noGrp="1"/>
          </p:cNvSpPr>
          <p:nvPr/>
        </p:nvSpPr>
        <p:spPr>
          <a:xfrm>
            <a:off x="723900" y="4781550"/>
            <a:ext cx="107632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5. Écrire le statut conditionnel selon local.disponible. (2 pts)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BA8377F3-575F-4C2B-9ACD-2556F6099AF5}"/>
              </a:ext>
            </a:extLst>
          </p:cNvPr>
          <p:cNvSpPr>
            <a:spLocks noGrp="1"/>
          </p:cNvSpPr>
          <p:nvPr/>
        </p:nvSpPr>
        <p:spPr>
          <a:xfrm>
            <a:off x="723900" y="5943600"/>
            <a:ext cx="106680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Sans ordinateur. Pour chaque réponse en code, vérifier les balises et les accolades.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AAB16573-58FC-451D-8313-D3F480A8451E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786200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">
            <a:extLst>
              <a:ext uri="{FF2B5EF4-FFF2-40B4-BE49-F238E27FC236}">
                <a16:creationId xmlns:a16="http://schemas.microsoft.com/office/drawing/2014/main" id="{7128CA56-6324-4530-821D-CB5AFC054568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382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CORRIGÉ · SUR 10 POINTS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55457218-3B14-4026-AD22-07C352BB714F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Mini-contrôle : réponses attendues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77875CD2-76C2-43A9-8997-93ADB9902F51}"/>
              </a:ext>
            </a:extLst>
          </p:cNvPr>
          <p:cNvSpPr>
            <a:spLocks noGrp="1"/>
          </p:cNvSpPr>
          <p:nvPr/>
        </p:nvSpPr>
        <p:spPr>
          <a:xfrm>
            <a:off x="723900" y="1943100"/>
            <a:ext cx="10668000" cy="2038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3. &lt;h2&gt;{local.nom}&lt;/h2&gt;</a:t>
            </a:r>
          </a:p>
          <a:p>
            <a:endParaRPr sz="2025" b="0">
              <a:solidFill>
                <a:srgbClr val="087F75"/>
              </a:solidFill>
              <a:latin typeface="Consolas"/>
              <a:ea typeface="Consolas"/>
              <a:cs typeface="Consolas"/>
            </a:endParaRP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4. &lt;p className="prix"&gt;{150 * 3} DH&lt;br /&gt;&lt;/p&gt;</a:t>
            </a:r>
          </a:p>
          <a:p>
            <a:endParaRPr sz="2025" b="0">
              <a:solidFill>
                <a:srgbClr val="087F75"/>
              </a:solidFill>
              <a:latin typeface="Consolas"/>
              <a:ea typeface="Consolas"/>
              <a:cs typeface="Consolas"/>
            </a:endParaRP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5. &lt;p&gt;{local.disponible</a:t>
            </a:r>
          </a:p>
          <a:p>
            <a:pPr>
              <a:defRPr sz="2025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   ? "Disponible" : "Indisponible"}&lt;/p&gt;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7D0D5D52-2B32-4573-A594-A6C932168F20}"/>
              </a:ext>
            </a:extLst>
          </p:cNvPr>
          <p:cNvSpPr>
            <a:spLocks noGrp="1"/>
          </p:cNvSpPr>
          <p:nvPr/>
        </p:nvSpPr>
        <p:spPr>
          <a:xfrm>
            <a:off x="723900" y="4095750"/>
            <a:ext cx="105727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1. React est une bibliothèque JavaScript pour les interfaces. Un composant décrit une partie de l’interface.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E36A5F85-3F4D-4584-AB9B-386EC02FCB4A}"/>
              </a:ext>
            </a:extLst>
          </p:cNvPr>
          <p:cNvSpPr>
            <a:spLocks noGrp="1"/>
          </p:cNvSpPr>
          <p:nvPr/>
        </p:nvSpPr>
        <p:spPr>
          <a:xfrm>
            <a:off x="723900" y="4714875"/>
            <a:ext cx="105727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2. Le front-end intervient dans le navigateur. Le back-end traite les requêtes et les règles côté serveur.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F5C6A8F0-F4FA-467E-8AB0-A3ED8E3B5900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5068700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46920957-6B9D-4E4C-849E-4F24049EFCB8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382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COURS · SÉANCE 1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9A4927DA-DB5D-4BCF-B6AD-6E5C7D9C1AC8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22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Les idées à retenir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517C44A6-A2A9-46E7-9A71-8AE36F0000F7}"/>
              </a:ext>
            </a:extLst>
          </p:cNvPr>
          <p:cNvSpPr>
            <a:spLocks noGrp="1"/>
          </p:cNvSpPr>
          <p:nvPr/>
        </p:nvSpPr>
        <p:spPr>
          <a:xfrm>
            <a:off x="723900" y="2000250"/>
            <a:ext cx="107632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Un composant fonctionnel retourne du JSX.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E7C10B36-D8FE-4DC5-9F1A-A12DBF9949D2}"/>
              </a:ext>
            </a:extLst>
          </p:cNvPr>
          <p:cNvSpPr>
            <a:spLocks noGrp="1"/>
          </p:cNvSpPr>
          <p:nvPr/>
        </p:nvSpPr>
        <p:spPr>
          <a:xfrm>
            <a:off x="723900" y="2971800"/>
            <a:ext cx="107632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Le JSX respecte une syntaxe proche de HTML, avec des règles supplémentaires.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DCCA9495-C258-47E8-86F6-632213472925}"/>
              </a:ext>
            </a:extLst>
          </p:cNvPr>
          <p:cNvSpPr>
            <a:spLocks noGrp="1"/>
          </p:cNvSpPr>
          <p:nvPr/>
        </p:nvSpPr>
        <p:spPr>
          <a:xfrm>
            <a:off x="723900" y="3943350"/>
            <a:ext cx="107632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Les accolades insèrent une expression JavaScript.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BB50056F-B4D9-481B-A1E3-74B643C0A784}"/>
              </a:ext>
            </a:extLst>
          </p:cNvPr>
          <p:cNvSpPr>
            <a:spLocks noGrp="1"/>
          </p:cNvSpPr>
          <p:nvPr/>
        </p:nvSpPr>
        <p:spPr>
          <a:xfrm>
            <a:off x="723900" y="4914900"/>
            <a:ext cx="107632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Un ternaire choisit une valeur selon une condition.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1B98429A-292A-4CDF-B5AC-B262D0EE3F19}"/>
              </a:ext>
            </a:extLst>
          </p:cNvPr>
          <p:cNvSpPr>
            <a:spLocks noGrp="1"/>
          </p:cNvSpPr>
          <p:nvPr/>
        </p:nvSpPr>
        <p:spPr>
          <a:xfrm>
            <a:off x="723900" y="5943600"/>
            <a:ext cx="106680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Question de sortie : expliquer la différence entre &lt;p&gt;local.nom&lt;/p&gt; et &lt;p&gt;{local.nom}&lt;/p&gt;.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DBF93999-7938-48D6-8704-C03F4C969E81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25921862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839</TotalTime>
  <Words>2115</Words>
  <Application>Microsoft Office PowerPoint</Application>
  <DocSecurity>0</DocSecurity>
  <PresentationFormat>Grand écran</PresentationFormat>
  <Paragraphs>352</Paragraphs>
  <Slides>30</Slides>
  <Notes>30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34" baseType="lpstr">
      <vt:lpstr>Aptos</vt:lpstr>
      <vt:lpstr>Arial</vt:lpstr>
      <vt:lpstr>Consolas</vt:lpstr>
      <vt:lpstr>ChatGPT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Sara EL-GUERYSY</cp:lastModifiedBy>
  <cp:revision>1</cp:revision>
  <dcterms:created xsi:type="dcterms:W3CDTF">2026-10-16T22:42:24Z</dcterms:created>
  <dcterms:modified xsi:type="dcterms:W3CDTF">2026-10-19T06:45:04Z</dcterms:modified>
</cp:coreProperties>
</file>